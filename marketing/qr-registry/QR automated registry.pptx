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bdacc32-f452-878f-b003-c3adebdfc434}">
          <p14:sldIdLst>
            <p14:sldId id="256"/>
          </p14:sldIdLst>
        </p14:section>
        <p14:section name="How it works" id="{ba65dc35-a019-e114-3cca-674e2f38cc8d}">
          <p14:sldIdLst>
            <p14:sldId id="257"/>
            <p14:sldId id="258"/>
            <p14:sldId id="259"/>
            <p14:sldId id="260"/>
          </p14:sldIdLst>
        </p14:section>
        <p14:section name="The card" id="{ec73dbd4-df6a-ec9e-ab64-adbb19d1b4d2}">
          <p14:sldIdLst>
            <p14:sldId id="261"/>
            <p14:sldId id="262"/>
            <p14:sldId id="263"/>
          </p14:sldIdLst>
        </p14:section>
        <p14:section name="Recommendations" id="{4aa7198a-dfd4-5958-7fa1-40c06651b444}">
          <p14:sldIdLst>
            <p14:sldId id="264"/>
          </p14:sldIdLst>
        </p14:section>
        <p14:section name="Next steps" id="{08607a93-7bce-968b-1ca8-d444954399d6}">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NextQ prepared this on behalf of Maponya and Moragi, the transport operator, for Corruseal Group. It explains QR mode, the passenger cards and how the records reach Corruseal.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changes for Corruseal on the reporting side. QR mode is only a faster way to fill the same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driver app keeps a running count of expected and boarded passengers. At departure it warns about anyone on the list who has not been scanned.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Q_DARK">
    <p:bg>
      <p:bgPr>
        <a:solidFill>
          <a:srgbClr val="14306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949440" cy="14630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640080" y="3429000"/>
            <a:ext cx="6766560" cy="914400"/>
          </a:xfrm>
          <a:prstGeom prst="rect">
            <a:avLst/>
          </a:prstGeom>
          <a:noFill/>
          <a:ln/>
        </p:spPr>
        <p:txBody>
          <a:bodyPr wrap="square" rtlCol="0"/>
          <a:lstStyle>
            <a:lvl1pPr algn="l" indent="0" marL="0">
              <a:buNone/>
              <a:defRPr lang="en-US" sz="2000" dirty="0">
                <a:solidFill>
                  <a:srgbClr val="CADCFC"/>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Q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NextQ, on behalf of Maponya and Moragi (Pty) Ltd</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949440" cy="1463040"/>
          </a:xfrm>
          <a:prstGeom prst="rect">
            <a:avLst/>
          </a:prstGeom>
          <a:noFill/>
          <a:ln/>
        </p:spPr>
        <p:txBody>
          <a:bodyPr wrap="square" lIns="0" tIns="0" rIns="0" bIns="0" rtlCol="0" anchor="b"/>
          <a:lstStyle/>
          <a:p>
            <a:pPr algn="l" indent="0" marL="0">
              <a:buNone/>
            </a:pPr>
            <a:r>
              <a:rPr lang="en-US" sz="4800" b="1" dirty="0">
                <a:solidFill>
                  <a:schemeClr val="bg1"/>
                </a:solidFill>
              </a:rPr>
              <a:t>QR automated registry</a:t>
            </a:r>
            <a:endParaRPr lang="en-US" sz="4800" dirty="0"/>
          </a:p>
        </p:txBody>
      </p:sp>
      <p:sp>
        <p:nvSpPr>
          <p:cNvPr id="3" name="Text 0"/>
          <p:cNvSpPr/>
          <p:nvPr>
            <p:ph idx="101" type="body" hasCustomPrompt="1"/>
          </p:nvPr>
        </p:nvSpPr>
        <p:spPr>
          <a:xfrm>
            <a:off x="640080" y="3429000"/>
            <a:ext cx="6766560" cy="914400"/>
          </a:xfrm>
          <a:prstGeom prst="rect">
            <a:avLst/>
          </a:prstGeom>
          <a:noFill/>
          <a:ln/>
        </p:spPr>
        <p:txBody>
          <a:bodyPr wrap="square" lIns="0" tIns="0" rIns="0" bIns="0" rtlCol="0" anchor="t"/>
          <a:lstStyle/>
          <a:p>
            <a:pPr algn="l" indent="0" marL="0">
              <a:buNone/>
            </a:pPr>
            <a:r>
              <a:rPr lang="en-US" sz="2000" dirty="0">
                <a:solidFill>
                  <a:srgbClr val="CADCFC"/>
                </a:solidFill>
              </a:rPr>
              <a:t>Fast, paperless staff transport registers for Corruseal Group</a:t>
            </a:r>
            <a:endParaRPr lang="en-US" sz="2000" dirty="0"/>
          </a:p>
        </p:txBody>
      </p:sp>
      <p:pic>
        <p:nvPicPr>
          <p:cNvPr id="4" name="NextQ logo" descr="/home/user/kev/marketing/qr-registry/logo-light.png">    </p:cNvPr>
          <p:cNvPicPr>
            <a:picLocks noChangeAspect="1"/>
          </p:cNvPicPr>
          <p:nvPr/>
        </p:nvPicPr>
        <p:blipFill>
          <a:blip r:embed="rId1"/>
          <a:stretch>
            <a:fillRect/>
          </a:stretch>
        </p:blipFill>
        <p:spPr>
          <a:xfrm>
            <a:off x="640080" y="548640"/>
            <a:ext cx="1691640" cy="548640"/>
          </a:xfrm>
          <a:prstGeom prst="rect">
            <a:avLst/>
          </a:prstGeom>
        </p:spPr>
      </p:pic>
      <p:sp>
        <p:nvSpPr>
          <p:cNvPr id="5" name="Text 2"/>
          <p:cNvSpPr txBox="1"/>
          <p:nvPr/>
        </p:nvSpPr>
        <p:spPr>
          <a:xfrm>
            <a:off x="640080" y="4937760"/>
            <a:ext cx="5943600" cy="1005840"/>
          </a:xfrm>
          <a:prstGeom prst="rect">
            <a:avLst/>
          </a:prstGeom>
          <a:noFill/>
          <a:ln/>
        </p:spPr>
        <p:txBody>
          <a:bodyPr wrap="square" lIns="0" tIns="0" rIns="0" bIns="0" rtlCol="0" anchor="ctr"/>
          <a:lstStyle/>
          <a:p>
            <a:pPr indent="0" marL="0">
              <a:spcAft>
                <a:spcPts val="400"/>
              </a:spcAft>
              <a:buNone/>
            </a:pPr>
            <a:r>
              <a:rPr lang="en-US" sz="1600" b="1" dirty="0">
                <a:solidFill>
                  <a:schemeClr val="bg1"/>
                </a:solidFill>
              </a:rPr>
              <a:t>Prepared by NextQ</a:t>
            </a:r>
            <a:endParaRPr lang="en-US" sz="1600" dirty="0"/>
          </a:p>
          <a:p>
            <a:pPr indent="0" marL="0">
              <a:spcAft>
                <a:spcPts val="400"/>
              </a:spcAft>
              <a:buNone/>
            </a:pPr>
            <a:r>
              <a:rPr lang="en-US" sz="1600" dirty="0">
                <a:solidFill>
                  <a:schemeClr val="bg1"/>
                </a:solidFill>
              </a:rPr>
              <a:t>On behalf of Maponya and Moragi (Pty) Ltd</a:t>
            </a:r>
            <a:endParaRPr lang="en-US" sz="1600" dirty="0"/>
          </a:p>
          <a:p>
            <a:pPr indent="0" marL="0">
              <a:spcAft>
                <a:spcPts val="400"/>
              </a:spcAft>
              <a:buNone/>
            </a:pPr>
            <a:r>
              <a:rPr lang="en-US" sz="1600" dirty="0">
                <a:solidFill>
                  <a:schemeClr val="bg1"/>
                </a:solidFill>
              </a:rPr>
              <a:t>8 October 2026</a:t>
            </a:r>
            <a:endParaRPr lang="en-US" sz="1600" dirty="0"/>
          </a:p>
        </p:txBody>
      </p:sp>
      <p:pic>
        <p:nvPicPr>
          <p:cNvPr id="6" name="NextQ mascot waving" descr="/home/user/kev/marketing/qr-registry/wave.png">    </p:cNvPr>
          <p:cNvPicPr>
            <a:picLocks noChangeAspect="1"/>
          </p:cNvPicPr>
          <p:nvPr/>
        </p:nvPicPr>
        <p:blipFill>
          <a:blip r:embed="rId2"/>
          <a:stretch>
            <a:fillRect/>
          </a:stretch>
        </p:blipFill>
        <p:spPr>
          <a:xfrm>
            <a:off x="8229600" y="1463040"/>
            <a:ext cx="3291840" cy="37744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Two modes, one register</a:t>
            </a:r>
            <a:endParaRPr lang="en-US" sz="3400" dirty="0"/>
          </a:p>
        </p:txBody>
      </p:sp>
      <p:sp>
        <p:nvSpPr>
          <p:cNvPr id="3" name="Standard register"/>
          <p:cNvSpPr/>
          <p:nvPr/>
        </p:nvSpPr>
        <p:spPr>
          <a:xfrm>
            <a:off x="548640" y="1417320"/>
            <a:ext cx="5349240" cy="3520440"/>
          </a:xfrm>
          <a:prstGeom prst="roundRect">
            <a:avLst>
              <a:gd name="adj" fmla="val 4675"/>
            </a:avLst>
          </a:prstGeom>
          <a:solidFill>
            <a:schemeClr val="bg2"/>
          </a:solidFill>
          <a:ln/>
        </p:spPr>
      </p:sp>
      <p:sp>
        <p:nvSpPr>
          <p:cNvPr id="4" name="Text 2"/>
          <p:cNvSpPr txBox="1"/>
          <p:nvPr/>
        </p:nvSpPr>
        <p:spPr>
          <a:xfrm>
            <a:off x="914400" y="1691640"/>
            <a:ext cx="4572000" cy="320040"/>
          </a:xfrm>
          <a:prstGeom prst="rect">
            <a:avLst/>
          </a:prstGeom>
          <a:noFill/>
          <a:ln/>
        </p:spPr>
        <p:txBody>
          <a:bodyPr wrap="square" lIns="0" tIns="0" rIns="0" bIns="0" rtlCol="0" anchor="ctr"/>
          <a:lstStyle/>
          <a:p>
            <a:pPr indent="0" marL="0">
              <a:buNone/>
            </a:pPr>
            <a:r>
              <a:rPr lang="en-US" sz="1300" b="1" spc="200" kern="0" dirty="0">
                <a:solidFill>
                  <a:schemeClr val="accent5"/>
                </a:solidFill>
              </a:rPr>
              <a:t>TODAY</a:t>
            </a:r>
            <a:endParaRPr lang="en-US" sz="1300" dirty="0"/>
          </a:p>
        </p:txBody>
      </p:sp>
      <p:sp>
        <p:nvSpPr>
          <p:cNvPr id="5" name="Text 3"/>
          <p:cNvSpPr txBox="1"/>
          <p:nvPr/>
        </p:nvSpPr>
        <p:spPr>
          <a:xfrm>
            <a:off x="914400" y="2011680"/>
            <a:ext cx="4663440" cy="548640"/>
          </a:xfrm>
          <a:prstGeom prst="rect">
            <a:avLst/>
          </a:prstGeom>
          <a:noFill/>
          <a:ln/>
        </p:spPr>
        <p:txBody>
          <a:bodyPr wrap="square" lIns="0" tIns="0" rIns="0" bIns="0" rtlCol="0" anchor="ctr"/>
          <a:lstStyle/>
          <a:p>
            <a:pPr indent="0" marL="0">
              <a:buNone/>
            </a:pPr>
            <a:r>
              <a:rPr lang="en-US" sz="2600" b="1" dirty="0">
                <a:solidFill>
                  <a:schemeClr val="tx1"/>
                </a:solidFill>
              </a:rPr>
              <a:t>Standard register</a:t>
            </a:r>
            <a:endParaRPr lang="en-US" sz="2600" dirty="0"/>
          </a:p>
        </p:txBody>
      </p:sp>
      <p:sp>
        <p:nvSpPr>
          <p:cNvPr id="6" name="Text 4"/>
          <p:cNvSpPr txBox="1"/>
          <p:nvPr/>
        </p:nvSpPr>
        <p:spPr>
          <a:xfrm>
            <a:off x="914400" y="2697480"/>
            <a:ext cx="466344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Passenger writes their line on the tablet</a:t>
            </a:r>
            <a:endParaRPr lang="en-US" sz="1600" dirty="0"/>
          </a:p>
          <a:p>
            <a:pPr marL="342900" indent="-342900">
              <a:spcAft>
                <a:spcPts val="800"/>
              </a:spcAft>
              <a:buSzPct val="100000"/>
              <a:buChar char="•"/>
            </a:pPr>
            <a:r>
              <a:rPr lang="en-US" sz="1600" dirty="0">
                <a:solidFill>
                  <a:schemeClr val="tx1"/>
                </a:solidFill>
              </a:rPr>
              <a:t>Signs with a finger at boarding and drop off</a:t>
            </a:r>
            <a:endParaRPr lang="en-US" sz="1600" dirty="0"/>
          </a:p>
          <a:p>
            <a:pPr marL="342900" indent="-342900">
              <a:spcAft>
                <a:spcPts val="800"/>
              </a:spcAft>
              <a:buSzPct val="100000"/>
              <a:buChar char="•"/>
            </a:pPr>
            <a:r>
              <a:rPr lang="en-US" sz="1600" dirty="0">
                <a:solidFill>
                  <a:schemeClr val="tx1"/>
                </a:solidFill>
              </a:rPr>
              <a:t>Best where a signature is required</a:t>
            </a:r>
            <a:endParaRPr lang="en-US" sz="1600" dirty="0"/>
          </a:p>
        </p:txBody>
      </p:sp>
      <p:sp>
        <p:nvSpPr>
          <p:cNvPr id="7" name="QR mode"/>
          <p:cNvSpPr/>
          <p:nvPr/>
        </p:nvSpPr>
        <p:spPr>
          <a:xfrm>
            <a:off x="6263640" y="1417320"/>
            <a:ext cx="5349240" cy="3520440"/>
          </a:xfrm>
          <a:prstGeom prst="roundRect">
            <a:avLst>
              <a:gd name="adj" fmla="val 4675"/>
            </a:avLst>
          </a:prstGeom>
          <a:solidFill>
            <a:srgbClr val="E3F4F2"/>
          </a:solidFill>
          <a:ln/>
        </p:spPr>
      </p:sp>
      <p:sp>
        <p:nvSpPr>
          <p:cNvPr id="8" name="Text 6"/>
          <p:cNvSpPr txBox="1"/>
          <p:nvPr/>
        </p:nvSpPr>
        <p:spPr>
          <a:xfrm>
            <a:off x="6629400" y="1691640"/>
            <a:ext cx="4572000" cy="320040"/>
          </a:xfrm>
          <a:prstGeom prst="rect">
            <a:avLst/>
          </a:prstGeom>
          <a:noFill/>
          <a:ln/>
        </p:spPr>
        <p:txBody>
          <a:bodyPr wrap="square" lIns="0" tIns="0" rIns="0" bIns="0" rtlCol="0" anchor="ctr"/>
          <a:lstStyle/>
          <a:p>
            <a:pPr indent="0" marL="0">
              <a:buNone/>
            </a:pPr>
            <a:r>
              <a:rPr lang="en-US" sz="1300" b="1" spc="200" kern="0" dirty="0">
                <a:solidFill>
                  <a:srgbClr val="0B7A6E"/>
                </a:solidFill>
              </a:rPr>
              <a:t>NEW</a:t>
            </a:r>
            <a:endParaRPr lang="en-US" sz="1300" dirty="0"/>
          </a:p>
        </p:txBody>
      </p:sp>
      <p:sp>
        <p:nvSpPr>
          <p:cNvPr id="9" name="Text 7"/>
          <p:cNvSpPr txBox="1"/>
          <p:nvPr/>
        </p:nvSpPr>
        <p:spPr>
          <a:xfrm>
            <a:off x="6629400" y="2011680"/>
            <a:ext cx="4663440" cy="548640"/>
          </a:xfrm>
          <a:prstGeom prst="rect">
            <a:avLst/>
          </a:prstGeom>
          <a:noFill/>
          <a:ln/>
        </p:spPr>
        <p:txBody>
          <a:bodyPr wrap="square" lIns="0" tIns="0" rIns="0" bIns="0" rtlCol="0" anchor="ctr"/>
          <a:lstStyle/>
          <a:p>
            <a:pPr indent="0" marL="0">
              <a:buNone/>
            </a:pPr>
            <a:r>
              <a:rPr lang="en-US" sz="2600" b="1" dirty="0">
                <a:solidFill>
                  <a:schemeClr val="tx1"/>
                </a:solidFill>
              </a:rPr>
              <a:t>QR mode</a:t>
            </a:r>
            <a:endParaRPr lang="en-US" sz="2600" dirty="0"/>
          </a:p>
        </p:txBody>
      </p:sp>
      <p:sp>
        <p:nvSpPr>
          <p:cNvPr id="10" name="Text 8"/>
          <p:cNvSpPr txBox="1"/>
          <p:nvPr/>
        </p:nvSpPr>
        <p:spPr>
          <a:xfrm>
            <a:off x="6629400" y="2697480"/>
            <a:ext cx="466344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Passenger shows a QR card, driver scans it</a:t>
            </a:r>
            <a:endParaRPr lang="en-US" sz="1600" dirty="0"/>
          </a:p>
          <a:p>
            <a:pPr marL="342900" indent="-342900">
              <a:spcAft>
                <a:spcPts val="800"/>
              </a:spcAft>
              <a:buSzPct val="100000"/>
              <a:buChar char="•"/>
            </a:pPr>
            <a:r>
              <a:rPr lang="en-US" sz="1600" dirty="0">
                <a:solidFill>
                  <a:schemeClr val="tx1"/>
                </a:solidFill>
              </a:rPr>
              <a:t>About two seconds per person, no typing</a:t>
            </a:r>
            <a:endParaRPr lang="en-US" sz="1600" dirty="0"/>
          </a:p>
          <a:p>
            <a:pPr marL="342900" indent="-342900">
              <a:spcAft>
                <a:spcPts val="800"/>
              </a:spcAft>
              <a:buSzPct val="100000"/>
              <a:buChar char="•"/>
            </a:pPr>
            <a:r>
              <a:rPr lang="en-US" sz="1600" dirty="0">
                <a:solidFill>
                  <a:schemeClr val="tx1"/>
                </a:solidFill>
              </a:rPr>
              <a:t>No phone, app or data needed by the passenger</a:t>
            </a:r>
            <a:endParaRPr lang="en-US" sz="1600" dirty="0"/>
          </a:p>
        </p:txBody>
      </p:sp>
      <p:sp>
        <p:nvSpPr>
          <p:cNvPr id="11" name="Same data band"/>
          <p:cNvSpPr/>
          <p:nvPr/>
        </p:nvSpPr>
        <p:spPr>
          <a:xfrm>
            <a:off x="548640" y="5166360"/>
            <a:ext cx="11064240" cy="914400"/>
          </a:xfrm>
          <a:prstGeom prst="roundRect">
            <a:avLst>
              <a:gd name="adj" fmla="val 18000"/>
            </a:avLst>
          </a:prstGeom>
          <a:solidFill>
            <a:schemeClr val="tx2"/>
          </a:solidFill>
          <a:ln/>
        </p:spPr>
      </p:sp>
      <p:sp>
        <p:nvSpPr>
          <p:cNvPr id="12" name="Text 10"/>
          <p:cNvSpPr txBox="1"/>
          <p:nvPr/>
        </p:nvSpPr>
        <p:spPr>
          <a:xfrm>
            <a:off x="868680" y="5166360"/>
            <a:ext cx="10424160" cy="914400"/>
          </a:xfrm>
          <a:prstGeom prst="rect">
            <a:avLst/>
          </a:prstGeom>
          <a:noFill/>
          <a:ln/>
        </p:spPr>
        <p:txBody>
          <a:bodyPr wrap="square" lIns="0" tIns="0" rIns="0" bIns="0" rtlCol="0" anchor="ctr"/>
          <a:lstStyle/>
          <a:p>
            <a:pPr indent="0" marL="0">
              <a:buNone/>
            </a:pPr>
            <a:r>
              <a:rPr lang="en-US" sz="1500" dirty="0">
                <a:solidFill>
                  <a:schemeClr val="bg1"/>
                </a:solidFill>
              </a:rPr>
              <a:t>The driver switches mode at any time. Both write the same register lines, so the PDF and Excel registers, the day reports and the security sign out confirmation stay exactly as they are.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How QR mode works on the bus</a:t>
            </a:r>
            <a:endParaRPr lang="en-US" sz="3400" dirty="0"/>
          </a:p>
        </p:txBody>
      </p:sp>
      <p:sp>
        <p:nvSpPr>
          <p:cNvPr id="3" name="step 1"/>
          <p:cNvSpPr/>
          <p:nvPr/>
        </p:nvSpPr>
        <p:spPr>
          <a:xfrm>
            <a:off x="548640" y="1463040"/>
            <a:ext cx="457200" cy="457200"/>
          </a:xfrm>
          <a:prstGeom prst="ellipse">
            <a:avLst/>
          </a:prstGeom>
          <a:solidFill>
            <a:schemeClr val="accent1"/>
          </a:solidFill>
          <a:ln/>
        </p:spPr>
      </p:sp>
      <p:sp>
        <p:nvSpPr>
          <p:cNvPr id="4" name="Text 2"/>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234440" y="1417320"/>
            <a:ext cx="6035040" cy="411480"/>
          </a:xfrm>
          <a:prstGeom prst="rect">
            <a:avLst/>
          </a:prstGeom>
          <a:noFill/>
          <a:ln/>
        </p:spPr>
        <p:txBody>
          <a:bodyPr wrap="square" lIns="0" tIns="0" rIns="0" bIns="0" rtlCol="0" anchor="ctr"/>
          <a:lstStyle/>
          <a:p>
            <a:pPr indent="0" marL="0">
              <a:buNone/>
            </a:pPr>
            <a:r>
              <a:rPr lang="en-US" sz="2000" b="1" dirty="0">
                <a:solidFill>
                  <a:schemeClr val="tx1"/>
                </a:solidFill>
              </a:rPr>
              <a:t>Employee carries the card</a:t>
            </a:r>
            <a:endParaRPr lang="en-US" sz="2000" dirty="0"/>
          </a:p>
        </p:txBody>
      </p:sp>
      <p:sp>
        <p:nvSpPr>
          <p:cNvPr id="6" name="Text 4"/>
          <p:cNvSpPr txBox="1"/>
          <p:nvPr/>
        </p:nvSpPr>
        <p:spPr>
          <a:xfrm>
            <a:off x="1234440" y="1828800"/>
            <a:ext cx="6035040" cy="548640"/>
          </a:xfrm>
          <a:prstGeom prst="rect">
            <a:avLst/>
          </a:prstGeom>
          <a:noFill/>
          <a:ln/>
        </p:spPr>
        <p:txBody>
          <a:bodyPr wrap="square" lIns="0" tIns="0" rIns="0" bIns="0" rtlCol="0" anchor="t"/>
          <a:lstStyle/>
          <a:p>
            <a:pPr indent="0" marL="0">
              <a:buNone/>
            </a:pPr>
            <a:r>
              <a:rPr lang="en-US" sz="1500" dirty="0">
                <a:solidFill>
                  <a:schemeClr val="accent5"/>
                </a:solidFill>
              </a:rPr>
              <a:t>Every Corruseal passenger gets a wallet size QR card.</a:t>
            </a:r>
            <a:endParaRPr lang="en-US" sz="1500" dirty="0"/>
          </a:p>
        </p:txBody>
      </p:sp>
      <p:sp>
        <p:nvSpPr>
          <p:cNvPr id="7" name="step 2"/>
          <p:cNvSpPr/>
          <p:nvPr/>
        </p:nvSpPr>
        <p:spPr>
          <a:xfrm>
            <a:off x="548640" y="2651760"/>
            <a:ext cx="457200" cy="457200"/>
          </a:xfrm>
          <a:prstGeom prst="ellipse">
            <a:avLst/>
          </a:prstGeom>
          <a:solidFill>
            <a:schemeClr val="accent1"/>
          </a:solidFill>
          <a:ln/>
        </p:spPr>
      </p:sp>
      <p:sp>
        <p:nvSpPr>
          <p:cNvPr id="8" name="Text 6"/>
          <p:cNvSpPr txBox="1"/>
          <p:nvPr/>
        </p:nvSpPr>
        <p:spPr>
          <a:xfrm>
            <a:off x="548640" y="2651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7"/>
          <p:cNvSpPr txBox="1"/>
          <p:nvPr/>
        </p:nvSpPr>
        <p:spPr>
          <a:xfrm>
            <a:off x="1234440" y="2606040"/>
            <a:ext cx="6035040" cy="411480"/>
          </a:xfrm>
          <a:prstGeom prst="rect">
            <a:avLst/>
          </a:prstGeom>
          <a:noFill/>
          <a:ln/>
        </p:spPr>
        <p:txBody>
          <a:bodyPr wrap="square" lIns="0" tIns="0" rIns="0" bIns="0" rtlCol="0" anchor="ctr"/>
          <a:lstStyle/>
          <a:p>
            <a:pPr indent="0" marL="0">
              <a:buNone/>
            </a:pPr>
            <a:r>
              <a:rPr lang="en-US" sz="2000" b="1" dirty="0">
                <a:solidFill>
                  <a:schemeClr val="tx1"/>
                </a:solidFill>
              </a:rPr>
              <a:t>Driver taps Board or Drop off</a:t>
            </a:r>
            <a:endParaRPr lang="en-US" sz="2000" dirty="0"/>
          </a:p>
        </p:txBody>
      </p:sp>
      <p:sp>
        <p:nvSpPr>
          <p:cNvPr id="10" name="Text 8"/>
          <p:cNvSpPr txBox="1"/>
          <p:nvPr/>
        </p:nvSpPr>
        <p:spPr>
          <a:xfrm>
            <a:off x="1234440" y="3017520"/>
            <a:ext cx="6035040" cy="548640"/>
          </a:xfrm>
          <a:prstGeom prst="rect">
            <a:avLst/>
          </a:prstGeom>
          <a:noFill/>
          <a:ln/>
        </p:spPr>
        <p:txBody>
          <a:bodyPr wrap="square" lIns="0" tIns="0" rIns="0" bIns="0" rtlCol="0" anchor="t"/>
          <a:lstStyle/>
          <a:p>
            <a:pPr indent="0" marL="0">
              <a:buNone/>
            </a:pPr>
            <a:r>
              <a:rPr lang="en-US" sz="1500" dirty="0">
                <a:solidFill>
                  <a:schemeClr val="accent5"/>
                </a:solidFill>
              </a:rPr>
              <a:t>An explicit choice, so a second scan never flips someone the wrong way.</a:t>
            </a:r>
            <a:endParaRPr lang="en-US" sz="1500" dirty="0"/>
          </a:p>
        </p:txBody>
      </p:sp>
      <p:sp>
        <p:nvSpPr>
          <p:cNvPr id="11" name="step 3"/>
          <p:cNvSpPr/>
          <p:nvPr/>
        </p:nvSpPr>
        <p:spPr>
          <a:xfrm>
            <a:off x="548640" y="3840480"/>
            <a:ext cx="457200" cy="457200"/>
          </a:xfrm>
          <a:prstGeom prst="ellipse">
            <a:avLst/>
          </a:prstGeom>
          <a:solidFill>
            <a:schemeClr val="accent1"/>
          </a:solidFill>
          <a:ln/>
        </p:spPr>
      </p:sp>
      <p:sp>
        <p:nvSpPr>
          <p:cNvPr id="12" name="Text 10"/>
          <p:cNvSpPr txBox="1"/>
          <p:nvPr/>
        </p:nvSpPr>
        <p:spPr>
          <a:xfrm>
            <a:off x="548640" y="3840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1"/>
          <p:cNvSpPr txBox="1"/>
          <p:nvPr/>
        </p:nvSpPr>
        <p:spPr>
          <a:xfrm>
            <a:off x="1234440" y="3794760"/>
            <a:ext cx="6035040" cy="411480"/>
          </a:xfrm>
          <a:prstGeom prst="rect">
            <a:avLst/>
          </a:prstGeom>
          <a:noFill/>
          <a:ln/>
        </p:spPr>
        <p:txBody>
          <a:bodyPr wrap="square" lIns="0" tIns="0" rIns="0" bIns="0" rtlCol="0" anchor="ctr"/>
          <a:lstStyle/>
          <a:p>
            <a:pPr indent="0" marL="0">
              <a:buNone/>
            </a:pPr>
            <a:r>
              <a:rPr lang="en-US" sz="2000" b="1" dirty="0">
                <a:solidFill>
                  <a:schemeClr val="tx1"/>
                </a:solidFill>
              </a:rPr>
              <a:t>Scan, or type the number</a:t>
            </a:r>
            <a:endParaRPr lang="en-US" sz="2000" dirty="0"/>
          </a:p>
        </p:txBody>
      </p:sp>
      <p:sp>
        <p:nvSpPr>
          <p:cNvPr id="14" name="Text 12"/>
          <p:cNvSpPr txBox="1"/>
          <p:nvPr/>
        </p:nvSpPr>
        <p:spPr>
          <a:xfrm>
            <a:off x="1234440" y="4206240"/>
            <a:ext cx="6035040" cy="548640"/>
          </a:xfrm>
          <a:prstGeom prst="rect">
            <a:avLst/>
          </a:prstGeom>
          <a:noFill/>
          <a:ln/>
        </p:spPr>
        <p:txBody>
          <a:bodyPr wrap="square" lIns="0" tIns="0" rIns="0" bIns="0" rtlCol="0" anchor="t"/>
          <a:lstStyle/>
          <a:p>
            <a:pPr indent="0" marL="0">
              <a:buNone/>
            </a:pPr>
            <a:r>
              <a:rPr lang="en-US" sz="1500" dirty="0">
                <a:solidFill>
                  <a:schemeClr val="accent5"/>
                </a:solidFill>
              </a:rPr>
              <a:t>Camera reads the card. A damaged card? The driver types the printed number.</a:t>
            </a:r>
            <a:endParaRPr lang="en-US" sz="1500" dirty="0"/>
          </a:p>
        </p:txBody>
      </p:sp>
      <p:sp>
        <p:nvSpPr>
          <p:cNvPr id="15" name="step 4"/>
          <p:cNvSpPr/>
          <p:nvPr/>
        </p:nvSpPr>
        <p:spPr>
          <a:xfrm>
            <a:off x="548640" y="5029200"/>
            <a:ext cx="457200" cy="457200"/>
          </a:xfrm>
          <a:prstGeom prst="ellipse">
            <a:avLst/>
          </a:prstGeom>
          <a:solidFill>
            <a:schemeClr val="accent1"/>
          </a:solidFill>
          <a:ln/>
        </p:spPr>
      </p:sp>
      <p:sp>
        <p:nvSpPr>
          <p:cNvPr id="16" name="Text 14"/>
          <p:cNvSpPr txBox="1"/>
          <p:nvPr/>
        </p:nvSpPr>
        <p:spPr>
          <a:xfrm>
            <a:off x="548640" y="50292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7" name="Text 15"/>
          <p:cNvSpPr txBox="1"/>
          <p:nvPr/>
        </p:nvSpPr>
        <p:spPr>
          <a:xfrm>
            <a:off x="1234440" y="4983480"/>
            <a:ext cx="6035040" cy="411480"/>
          </a:xfrm>
          <a:prstGeom prst="rect">
            <a:avLst/>
          </a:prstGeom>
          <a:noFill/>
          <a:ln/>
        </p:spPr>
        <p:txBody>
          <a:bodyPr wrap="square" lIns="0" tIns="0" rIns="0" bIns="0" rtlCol="0" anchor="ctr"/>
          <a:lstStyle/>
          <a:p>
            <a:pPr indent="0" marL="0">
              <a:buNone/>
            </a:pPr>
            <a:r>
              <a:rPr lang="en-US" sz="2000" b="1" dirty="0">
                <a:solidFill>
                  <a:schemeClr val="tx1"/>
                </a:solidFill>
              </a:rPr>
              <a:t>The record is saved</a:t>
            </a:r>
            <a:endParaRPr lang="en-US" sz="2000" dirty="0"/>
          </a:p>
        </p:txBody>
      </p:sp>
      <p:sp>
        <p:nvSpPr>
          <p:cNvPr id="18" name="Text 16"/>
          <p:cNvSpPr txBox="1"/>
          <p:nvPr/>
        </p:nvSpPr>
        <p:spPr>
          <a:xfrm>
            <a:off x="1234440" y="5394960"/>
            <a:ext cx="6035040" cy="548640"/>
          </a:xfrm>
          <a:prstGeom prst="rect">
            <a:avLst/>
          </a:prstGeom>
          <a:noFill/>
          <a:ln/>
        </p:spPr>
        <p:txBody>
          <a:bodyPr wrap="square" lIns="0" tIns="0" rIns="0" bIns="0" rtlCol="0" anchor="t"/>
          <a:lstStyle/>
          <a:p>
            <a:pPr indent="0" marL="0">
              <a:buNone/>
            </a:pPr>
            <a:r>
              <a:rPr lang="en-US" sz="1500" dirty="0">
                <a:solidFill>
                  <a:schemeClr val="accent5"/>
                </a:solidFill>
              </a:rPr>
              <a:t>Name, clock number, time, vehicle, trip and route, live for Corruseal.</a:t>
            </a:r>
            <a:endParaRPr lang="en-US" sz="1500" dirty="0"/>
          </a:p>
        </p:txBody>
      </p:sp>
      <p:pic>
        <p:nvPicPr>
          <p:cNvPr id="19" name="Driver app in QR mode" descr="/home/user/kev/marketing/qr-registry/driver.png">    </p:cNvPr>
          <p:cNvPicPr>
            <a:picLocks noChangeAspect="1"/>
          </p:cNvPicPr>
          <p:nvPr/>
        </p:nvPicPr>
        <p:blipFill>
          <a:blip r:embed="rId1"/>
          <a:stretch>
            <a:fillRect/>
          </a:stretch>
        </p:blipFill>
        <p:spPr>
          <a:xfrm>
            <a:off x="8366760" y="1234440"/>
            <a:ext cx="2468880" cy="5061204"/>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Every scan creates a record</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a:tblGrid>
                <a:gridCol w="2194560"/>
                <a:gridCol w="4114800"/>
              </a:tblGrid>
              <a:tr h="475488">
                <a:tc>
                  <a:txBody>
                    <a:bodyPr/>
                    <a:lstStyle/>
                    <a:p>
                      <a:pPr indent="0" marL="0">
                        <a:buNone/>
                      </a:pPr>
                      <a:r>
                        <a:rPr lang="en-US" sz="1200" b="1" dirty="0">
                          <a:solidFill>
                            <a:schemeClr val="accent5"/>
                          </a:solidFill>
                        </a:rPr>
                        <a:t>FIELD</a:t>
                      </a:r>
                      <a:endParaRPr lang="en-US" sz="1200" dirty="0"/>
                    </a:p>
                  </a:txBody>
                  <a:tcPr marL="109728" marR="109728" marT="0" marB="0"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5"/>
                          </a:solidFill>
                        </a:rPr>
                        <a:t>EXAMPLE</a:t>
                      </a:r>
                      <a:endParaRPr lang="en-US" sz="1200" dirty="0"/>
                    </a:p>
                  </a:txBody>
                  <a:tcPr marL="109728" marR="109728" marT="0" marB="0"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r>
              <a:tr h="475488">
                <a:tc>
                  <a:txBody>
                    <a:bodyPr/>
                    <a:lstStyle/>
                    <a:p>
                      <a:pPr indent="0" marL="0">
                        <a:buNone/>
                      </a:pPr>
                      <a:r>
                        <a:rPr lang="en-US" sz="1500" dirty="0">
                          <a:solidFill>
                            <a:schemeClr val="accent5"/>
                          </a:solidFill>
                        </a:rPr>
                        <a:t>Employee</a:t>
                      </a:r>
                      <a:endParaRPr lang="en-US" sz="1500" dirty="0"/>
                    </a:p>
                  </a:txBody>
                  <a:tcPr marL="109728" marR="109728" marT="0" marB="0"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indent="0" marL="0">
                        <a:buNone/>
                      </a:pPr>
                      <a:r>
                        <a:rPr lang="en-US" sz="1500" b="1" dirty="0">
                          <a:solidFill>
                            <a:schemeClr val="tx1"/>
                          </a:solidFill>
                        </a:rPr>
                        <a:t>Thabo Mokoena</a:t>
                      </a:r>
                      <a:endParaRPr lang="en-US" sz="1500" dirty="0"/>
                    </a:p>
                  </a:txBody>
                  <a:tcPr marL="109728" marR="109728" marT="0" marB="0"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r>
              <a:tr h="475488">
                <a:tc>
                  <a:txBody>
                    <a:bodyPr/>
                    <a:lstStyle/>
                    <a:p>
                      <a:pPr indent="0" marL="0">
                        <a:buNone/>
                      </a:pPr>
                      <a:r>
                        <a:rPr lang="en-US" sz="1500" dirty="0">
                          <a:solidFill>
                            <a:schemeClr val="accent5"/>
                          </a:solidFill>
                        </a:rPr>
                        <a:t>Clock number</a:t>
                      </a:r>
                      <a:endParaRPr lang="en-US" sz="1500" dirty="0"/>
                    </a:p>
                  </a:txBody>
                  <a:tcPr marL="109728" marR="109728" marT="0" marB="0"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indent="0" marL="0">
                        <a:buNone/>
                      </a:pPr>
                      <a:r>
                        <a:rPr lang="en-US" sz="1500" b="1" dirty="0">
                          <a:solidFill>
                            <a:schemeClr val="tx1"/>
                          </a:solidFill>
                        </a:rPr>
                        <a:t>10452</a:t>
                      </a:r>
                      <a:endParaRPr lang="en-US" sz="1500" dirty="0"/>
                    </a:p>
                  </a:txBody>
                  <a:tcPr marL="109728" marR="109728" marT="0" marB="0"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r>
              <a:tr h="475488">
                <a:tc>
                  <a:txBody>
                    <a:bodyPr/>
                    <a:lstStyle/>
                    <a:p>
                      <a:pPr indent="0" marL="0">
                        <a:buNone/>
                      </a:pPr>
                      <a:r>
                        <a:rPr lang="en-US" sz="1500" dirty="0">
                          <a:solidFill>
                            <a:schemeClr val="accent5"/>
                          </a:solidFill>
                        </a:rPr>
                        <a:t>Date and time</a:t>
                      </a:r>
                      <a:endParaRPr lang="en-US" sz="1500" dirty="0"/>
                    </a:p>
                  </a:txBody>
                  <a:tcPr marL="109728" marR="109728" marT="0" marB="0"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indent="0" marL="0">
                        <a:buNone/>
                      </a:pPr>
                      <a:r>
                        <a:rPr lang="en-US" sz="1500" b="1" dirty="0">
                          <a:solidFill>
                            <a:schemeClr val="tx1"/>
                          </a:solidFill>
                        </a:rPr>
                        <a:t>8 October 2026, 05h47</a:t>
                      </a:r>
                      <a:endParaRPr lang="en-US" sz="1500" dirty="0"/>
                    </a:p>
                  </a:txBody>
                  <a:tcPr marL="109728" marR="109728" marT="0" marB="0"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r>
              <a:tr h="475488">
                <a:tc>
                  <a:txBody>
                    <a:bodyPr/>
                    <a:lstStyle/>
                    <a:p>
                      <a:pPr indent="0" marL="0">
                        <a:buNone/>
                      </a:pPr>
                      <a:r>
                        <a:rPr lang="en-US" sz="1500" dirty="0">
                          <a:solidFill>
                            <a:schemeClr val="accent5"/>
                          </a:solidFill>
                        </a:rPr>
                        <a:t>Action</a:t>
                      </a:r>
                      <a:endParaRPr lang="en-US" sz="1500" dirty="0"/>
                    </a:p>
                  </a:txBody>
                  <a:tcPr marL="109728" marR="109728" marT="0" marB="0"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indent="0" marL="0">
                        <a:buNone/>
                      </a:pPr>
                      <a:r>
                        <a:rPr lang="en-US" sz="1500" b="1" dirty="0">
                          <a:solidFill>
                            <a:schemeClr val="tx1"/>
                          </a:solidFill>
                        </a:rPr>
                        <a:t>Board (sign in)</a:t>
                      </a:r>
                      <a:endParaRPr lang="en-US" sz="1500" dirty="0"/>
                    </a:p>
                  </a:txBody>
                  <a:tcPr marL="109728" marR="109728" marT="0" marB="0"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r>
              <a:tr h="475488">
                <a:tc>
                  <a:txBody>
                    <a:bodyPr/>
                    <a:lstStyle/>
                    <a:p>
                      <a:pPr indent="0" marL="0">
                        <a:buNone/>
                      </a:pPr>
                      <a:r>
                        <a:rPr lang="en-US" sz="1500" dirty="0">
                          <a:solidFill>
                            <a:schemeClr val="accent5"/>
                          </a:solidFill>
                        </a:rPr>
                        <a:t>Vehicle and driver</a:t>
                      </a:r>
                      <a:endParaRPr lang="en-US" sz="1500" dirty="0"/>
                    </a:p>
                  </a:txBody>
                  <a:tcPr marL="109728" marR="109728" marT="0" marB="0"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indent="0" marL="0">
                        <a:buNone/>
                      </a:pPr>
                      <a:r>
                        <a:rPr lang="en-US" sz="1500" b="1" dirty="0">
                          <a:solidFill>
                            <a:schemeClr val="tx1"/>
                          </a:solidFill>
                        </a:rPr>
                        <a:t>Vehicle 03, A. Maponya</a:t>
                      </a:r>
                      <a:endParaRPr lang="en-US" sz="1500" dirty="0"/>
                    </a:p>
                  </a:txBody>
                  <a:tcPr marL="109728" marR="109728" marT="0" marB="0"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r>
              <a:tr h="475488">
                <a:tc>
                  <a:txBody>
                    <a:bodyPr/>
                    <a:lstStyle/>
                    <a:p>
                      <a:pPr indent="0" marL="0">
                        <a:buNone/>
                      </a:pPr>
                      <a:r>
                        <a:rPr lang="en-US" sz="1500" dirty="0">
                          <a:solidFill>
                            <a:schemeClr val="accent5"/>
                          </a:solidFill>
                        </a:rPr>
                        <a:t>Trip and route</a:t>
                      </a:r>
                      <a:endParaRPr lang="en-US" sz="1500" dirty="0"/>
                    </a:p>
                  </a:txBody>
                  <a:tcPr marL="109728" marR="109728" marT="0" marB="0"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indent="0" marL="0">
                        <a:buNone/>
                      </a:pPr>
                      <a:r>
                        <a:rPr lang="en-US" sz="1500" b="1" dirty="0">
                          <a:solidFill>
                            <a:schemeClr val="tx1"/>
                          </a:solidFill>
                        </a:rPr>
                        <a:t>Trip 1 morning, Vosloorus to Corruseal</a:t>
                      </a:r>
                      <a:endParaRPr lang="en-US" sz="1500" dirty="0"/>
                    </a:p>
                  </a:txBody>
                  <a:tcPr marL="109728" marR="109728" marT="0" marB="0"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r>
              <a:tr h="475488">
                <a:tc>
                  <a:txBody>
                    <a:bodyPr/>
                    <a:lstStyle/>
                    <a:p>
                      <a:pPr indent="0" marL="0">
                        <a:buNone/>
                      </a:pPr>
                      <a:r>
                        <a:rPr lang="en-US" sz="1500" dirty="0">
                          <a:solidFill>
                            <a:schemeClr val="accent5"/>
                          </a:solidFill>
                        </a:rPr>
                        <a:t>Pickup point</a:t>
                      </a:r>
                      <a:endParaRPr lang="en-US" sz="1500" dirty="0"/>
                    </a:p>
                  </a:txBody>
                  <a:tcPr marL="109728" marR="109728" marT="0" marB="0"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indent="0" marL="0">
                        <a:buNone/>
                      </a:pPr>
                      <a:r>
                        <a:rPr lang="en-US" sz="1500" b="1" dirty="0">
                          <a:solidFill>
                            <a:schemeClr val="tx1"/>
                          </a:solidFill>
                        </a:rPr>
                        <a:t>Vosloorus, Ext 28 rank</a:t>
                      </a:r>
                      <a:endParaRPr lang="en-US" sz="1500" dirty="0"/>
                    </a:p>
                  </a:txBody>
                  <a:tcPr marL="109728" marR="109728" marT="0" marB="0"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r>
              <a:tr h="475488">
                <a:tc>
                  <a:txBody>
                    <a:bodyPr/>
                    <a:lstStyle/>
                    <a:p>
                      <a:pPr indent="0" marL="0">
                        <a:buNone/>
                      </a:pPr>
                      <a:r>
                        <a:rPr lang="en-US" sz="1500" dirty="0">
                          <a:solidFill>
                            <a:schemeClr val="accent5"/>
                          </a:solidFill>
                        </a:rPr>
                        <a:t>How</a:t>
                      </a:r>
                      <a:endParaRPr lang="en-US" sz="1500" dirty="0"/>
                    </a:p>
                  </a:txBody>
                  <a:tcPr marL="109728" marR="109728" marT="0" marB="0"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c>
                  <a:txBody>
                    <a:bodyPr/>
                    <a:lstStyle/>
                    <a:p>
                      <a:pPr indent="0" marL="0">
                        <a:buNone/>
                      </a:pPr>
                      <a:r>
                        <a:rPr lang="en-US" sz="1500" b="1" dirty="0">
                          <a:solidFill>
                            <a:schemeClr val="tx1"/>
                          </a:solidFill>
                        </a:rPr>
                        <a:t>Scanned (or typed in)</a:t>
                      </a:r>
                      <a:endParaRPr lang="en-US" sz="1500" dirty="0"/>
                    </a:p>
                  </a:txBody>
                  <a:tcPr marL="109728" marR="109728" marT="0" marB="0" anchor="ctr">
                    <a:lnL w="9525" cap="flat" cmpd="sng" algn="ctr">
                      <a:solidFill>
                        <a:srgbClr val="E1E6EF"/>
                      </a:solidFill>
                      <a:prstDash val="solid"/>
                      <a:round/>
                      <a:headEnd type="none" w="med" len="med"/>
                      <a:tailEnd type="none" w="med" len="med"/>
                    </a:lnL>
                    <a:lnR w="9525" cap="flat" cmpd="sng" algn="ctr">
                      <a:solidFill>
                        <a:srgbClr val="E1E6EF"/>
                      </a:solidFill>
                      <a:prstDash val="solid"/>
                      <a:round/>
                      <a:headEnd type="none" w="med" len="med"/>
                      <a:tailEnd type="none" w="med" len="med"/>
                    </a:lnR>
                    <a:lnT w="9525" cap="flat" cmpd="sng" algn="ctr">
                      <a:solidFill>
                        <a:srgbClr val="E1E6EF"/>
                      </a:solidFill>
                      <a:prstDash val="solid"/>
                      <a:round/>
                      <a:headEnd type="none" w="med" len="med"/>
                      <a:tailEnd type="none" w="med" len="med"/>
                    </a:lnT>
                    <a:lnB w="9525" cap="flat" cmpd="sng" algn="ctr">
                      <a:solidFill>
                        <a:srgbClr val="E1E6EF"/>
                      </a:solidFill>
                      <a:prstDash val="solid"/>
                      <a:round/>
                      <a:headEnd type="none" w="med" len="med"/>
                      <a:tailEnd type="none" w="med" len="med"/>
                    </a:lnB>
                    <a:solidFill>
                      <a:srgbClr val="FFFFFF"/>
                    </a:solidFill>
                  </a:tcPr>
                </a:tc>
              </a:tr>
            </a:tbl>
          </a:graphicData>
        </a:graphic>
      </p:graphicFrame>
      <p:sp>
        <p:nvSpPr>
          <p:cNvPr id="4" name="The driver enters nothing"/>
          <p:cNvSpPr/>
          <p:nvPr/>
        </p:nvSpPr>
        <p:spPr>
          <a:xfrm>
            <a:off x="7315200" y="1371600"/>
            <a:ext cx="4297680" cy="4279392"/>
          </a:xfrm>
          <a:prstGeom prst="roundRect">
            <a:avLst>
              <a:gd name="adj" fmla="val 3846"/>
            </a:avLst>
          </a:prstGeom>
          <a:solidFill>
            <a:schemeClr val="bg2"/>
          </a:solidFill>
          <a:ln/>
        </p:spPr>
      </p:sp>
      <p:sp>
        <p:nvSpPr>
          <p:cNvPr id="5" name="Text 2"/>
          <p:cNvSpPr txBox="1"/>
          <p:nvPr/>
        </p:nvSpPr>
        <p:spPr>
          <a:xfrm>
            <a:off x="7635240" y="1645920"/>
            <a:ext cx="3749040" cy="457200"/>
          </a:xfrm>
          <a:prstGeom prst="rect">
            <a:avLst/>
          </a:prstGeom>
          <a:noFill/>
          <a:ln/>
        </p:spPr>
        <p:txBody>
          <a:bodyPr wrap="square" lIns="0" tIns="0" rIns="0" bIns="0" rtlCol="0" anchor="ctr"/>
          <a:lstStyle/>
          <a:p>
            <a:pPr indent="0" marL="0">
              <a:buNone/>
            </a:pPr>
            <a:r>
              <a:rPr lang="en-US" sz="2000" b="1" dirty="0">
                <a:solidFill>
                  <a:schemeClr val="tx2"/>
                </a:solidFill>
              </a:rPr>
              <a:t>Nothing else to type</a:t>
            </a:r>
            <a:endParaRPr lang="en-US" sz="2000" dirty="0"/>
          </a:p>
        </p:txBody>
      </p:sp>
      <p:sp>
        <p:nvSpPr>
          <p:cNvPr id="6" name="Text 3"/>
          <p:cNvSpPr txBox="1"/>
          <p:nvPr/>
        </p:nvSpPr>
        <p:spPr>
          <a:xfrm>
            <a:off x="7635240" y="2194560"/>
            <a:ext cx="374904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Each driver signs in once on their own vehicle.</a:t>
            </a:r>
            <a:endParaRPr lang="en-US" sz="1500" dirty="0"/>
          </a:p>
          <a:p>
            <a:pPr marL="342900" indent="-342900">
              <a:spcAft>
                <a:spcPts val="1000"/>
              </a:spcAft>
              <a:buSzPct val="100000"/>
              <a:buChar char="•"/>
            </a:pPr>
            <a:r>
              <a:rPr lang="en-US" sz="1500" dirty="0">
                <a:solidFill>
                  <a:schemeClr val="tx1"/>
                </a:solidFill>
              </a:rPr>
              <a:t>The vehicle, trip, route and date come from the trip they started.</a:t>
            </a:r>
            <a:endParaRPr lang="en-US" sz="1500" dirty="0"/>
          </a:p>
          <a:p>
            <a:pPr marL="342900" indent="-342900">
              <a:spcAft>
                <a:spcPts val="1000"/>
              </a:spcAft>
              <a:buSzPct val="100000"/>
              <a:buChar char="•"/>
            </a:pPr>
            <a:r>
              <a:rPr lang="en-US" sz="1500" dirty="0">
                <a:solidFill>
                  <a:schemeClr val="tx1"/>
                </a:solidFill>
              </a:rPr>
              <a:t>At drop off, the afternoon scan closes the same person's line with a time out.</a:t>
            </a:r>
            <a:endParaRPr lang="en-US" sz="1500" dirty="0"/>
          </a:p>
          <a:p>
            <a:pPr marL="342900" indent="-342900">
              <a:spcAft>
                <a:spcPts val="1000"/>
              </a:spcAft>
              <a:buSzPct val="100000"/>
              <a:buChar char="•"/>
            </a:pPr>
            <a:r>
              <a:rPr lang="en-US" sz="1500" dirty="0">
                <a:solidFill>
                  <a:schemeClr val="tx1"/>
                </a:solidFill>
              </a:rPr>
              <a:t>Someone already on another bus cannot be boarded twice.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Corruseal sees every trip live</a:t>
            </a:r>
            <a:endParaRPr lang="en-US" sz="3400" dirty="0"/>
          </a:p>
        </p:txBody>
      </p:sp>
      <p:pic>
        <p:nvPicPr>
          <p:cNvPr id="3" name="Live transport register" descr="/home/user/kev/marketing/qr-registry/dashboard.png">    </p:cNvPr>
          <p:cNvPicPr>
            <a:picLocks noChangeAspect="1"/>
          </p:cNvPicPr>
          <p:nvPr/>
        </p:nvPicPr>
        <p:blipFill>
          <a:blip r:embed="rId1"/>
          <a:stretch>
            <a:fillRect/>
          </a:stretch>
        </p:blipFill>
        <p:spPr>
          <a:xfrm>
            <a:off x="548640" y="1325880"/>
            <a:ext cx="7589520" cy="4427220"/>
          </a:xfrm>
          <a:prstGeom prst="rect">
            <a:avLst/>
          </a:prstGeom>
        </p:spPr>
      </p:pic>
      <p:sp>
        <p:nvSpPr>
          <p:cNvPr id="4" name="Text 1"/>
          <p:cNvSpPr txBox="1"/>
          <p:nvPr/>
        </p:nvSpPr>
        <p:spPr>
          <a:xfrm>
            <a:off x="8503920" y="1371600"/>
            <a:ext cx="3154680" cy="12801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Boarded, not boarded, expected</a:t>
            </a:r>
            <a:endParaRPr lang="en-US" sz="1800" dirty="0"/>
          </a:p>
          <a:p>
            <a:pPr indent="0" marL="0">
              <a:spcAft>
                <a:spcPts val="400"/>
              </a:spcAft>
              <a:buNone/>
            </a:pPr>
            <a:r>
              <a:rPr lang="en-US" sz="1400" dirty="0">
                <a:solidFill>
                  <a:schemeClr val="accent5"/>
                </a:solidFill>
              </a:rPr>
              <a:t>For the whole day, per vehicle and per trip.</a:t>
            </a:r>
            <a:endParaRPr lang="en-US" sz="1800" dirty="0"/>
          </a:p>
        </p:txBody>
      </p:sp>
      <p:sp>
        <p:nvSpPr>
          <p:cNvPr id="5" name="Text 2"/>
          <p:cNvSpPr txBox="1"/>
          <p:nvPr/>
        </p:nvSpPr>
        <p:spPr>
          <a:xfrm>
            <a:off x="8503920" y="2834640"/>
            <a:ext cx="3154680" cy="12801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Click into any vehicle</a:t>
            </a:r>
            <a:endParaRPr lang="en-US" sz="1800" dirty="0"/>
          </a:p>
          <a:p>
            <a:pPr indent="0" marL="0">
              <a:spcAft>
                <a:spcPts val="400"/>
              </a:spcAft>
              <a:buNone/>
            </a:pPr>
            <a:r>
              <a:rPr lang="en-US" sz="1400" dirty="0">
                <a:solidFill>
                  <a:schemeClr val="accent5"/>
                </a:solidFill>
              </a:rPr>
              <a:t>Who boarded, at what time, and who is missing.</a:t>
            </a:r>
            <a:endParaRPr lang="en-US" sz="1800" dirty="0"/>
          </a:p>
        </p:txBody>
      </p:sp>
      <p:sp>
        <p:nvSpPr>
          <p:cNvPr id="6" name="Text 3"/>
          <p:cNvSpPr txBox="1"/>
          <p:nvPr/>
        </p:nvSpPr>
        <p:spPr>
          <a:xfrm>
            <a:off x="8503920" y="4297680"/>
            <a:ext cx="3154680" cy="12801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Same reports as today</a:t>
            </a:r>
            <a:endParaRPr lang="en-US" sz="1800" dirty="0"/>
          </a:p>
          <a:p>
            <a:pPr indent="0" marL="0">
              <a:spcAft>
                <a:spcPts val="400"/>
              </a:spcAft>
              <a:buNone/>
            </a:pPr>
            <a:r>
              <a:rPr lang="en-US" sz="1400" dirty="0">
                <a:solidFill>
                  <a:schemeClr val="accent5"/>
                </a:solidFill>
              </a:rPr>
              <a:t>PDF and Excel registers, emailed daily if wanted.</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The passenger card, with photo</a:t>
            </a:r>
            <a:endParaRPr lang="en-US" sz="3400" dirty="0"/>
          </a:p>
        </p:txBody>
      </p:sp>
      <p:pic>
        <p:nvPicPr>
          <p:cNvPr id="3" name="Card front with photo" descr="/home/user/kev/marketing/qr-registry/front-photo.png">    </p:cNvPr>
          <p:cNvPicPr>
            <a:picLocks noChangeAspect="1"/>
          </p:cNvPicPr>
          <p:nvPr/>
        </p:nvPicPr>
        <p:blipFill>
          <a:blip r:embed="rId1"/>
          <a:stretch>
            <a:fillRect/>
          </a:stretch>
        </p:blipFill>
        <p:spPr>
          <a:xfrm>
            <a:off x="548640" y="1371600"/>
            <a:ext cx="5394960" cy="3403363"/>
          </a:xfrm>
          <a:prstGeom prst="rect">
            <a:avLst/>
          </a:prstGeom>
        </p:spPr>
      </p:pic>
      <p:pic>
        <p:nvPicPr>
          <p:cNvPr id="4" name="Card back" descr="/home/user/kev/marketing/qr-registry/back.png">    </p:cNvPr>
          <p:cNvPicPr>
            <a:picLocks noChangeAspect="1"/>
          </p:cNvPicPr>
          <p:nvPr/>
        </p:nvPicPr>
        <p:blipFill>
          <a:blip r:embed="rId2"/>
          <a:stretch>
            <a:fillRect/>
          </a:stretch>
        </p:blipFill>
        <p:spPr>
          <a:xfrm>
            <a:off x="6217920" y="1371600"/>
            <a:ext cx="5394960" cy="3403363"/>
          </a:xfrm>
          <a:prstGeom prst="rect">
            <a:avLst/>
          </a:prstGeom>
        </p:spPr>
      </p:pic>
      <p:sp>
        <p:nvSpPr>
          <p:cNvPr id="5" name="Text 1"/>
          <p:cNvSpPr txBox="1"/>
          <p:nvPr/>
        </p:nvSpPr>
        <p:spPr>
          <a:xfrm>
            <a:off x="548640" y="4912123"/>
            <a:ext cx="2743200" cy="274320"/>
          </a:xfrm>
          <a:prstGeom prst="rect">
            <a:avLst/>
          </a:prstGeom>
          <a:noFill/>
          <a:ln/>
        </p:spPr>
        <p:txBody>
          <a:bodyPr wrap="square" lIns="0" tIns="0" rIns="0" bIns="0" rtlCol="0" anchor="ctr"/>
          <a:lstStyle/>
          <a:p>
            <a:pPr indent="0" marL="0">
              <a:buNone/>
            </a:pPr>
            <a:r>
              <a:rPr lang="en-US" sz="1200" b="1" spc="200" kern="0" dirty="0">
                <a:solidFill>
                  <a:schemeClr val="accent5"/>
                </a:solidFill>
              </a:rPr>
              <a:t>FRONT</a:t>
            </a:r>
            <a:endParaRPr lang="en-US" sz="1200" dirty="0"/>
          </a:p>
        </p:txBody>
      </p:sp>
      <p:sp>
        <p:nvSpPr>
          <p:cNvPr id="6" name="Text 2"/>
          <p:cNvSpPr txBox="1"/>
          <p:nvPr/>
        </p:nvSpPr>
        <p:spPr>
          <a:xfrm>
            <a:off x="6217920" y="4912123"/>
            <a:ext cx="2743200" cy="274320"/>
          </a:xfrm>
          <a:prstGeom prst="rect">
            <a:avLst/>
          </a:prstGeom>
          <a:noFill/>
          <a:ln/>
        </p:spPr>
        <p:txBody>
          <a:bodyPr wrap="square" lIns="0" tIns="0" rIns="0" bIns="0" rtlCol="0" anchor="ctr"/>
          <a:lstStyle/>
          <a:p>
            <a:pPr indent="0" marL="0">
              <a:buNone/>
            </a:pPr>
            <a:r>
              <a:rPr lang="en-US" sz="1200" b="1" spc="200" kern="0" dirty="0">
                <a:solidFill>
                  <a:schemeClr val="accent5"/>
                </a:solidFill>
              </a:rPr>
              <a:t>BACK</a:t>
            </a:r>
            <a:endParaRPr lang="en-US" sz="1200" dirty="0"/>
          </a:p>
        </p:txBody>
      </p:sp>
      <p:sp>
        <p:nvSpPr>
          <p:cNvPr id="7" name="Card size note"/>
          <p:cNvSpPr/>
          <p:nvPr/>
        </p:nvSpPr>
        <p:spPr>
          <a:xfrm>
            <a:off x="548640" y="5349240"/>
            <a:ext cx="11064240" cy="822960"/>
          </a:xfrm>
          <a:prstGeom prst="roundRect">
            <a:avLst>
              <a:gd name="adj" fmla="val 20000"/>
            </a:avLst>
          </a:prstGeom>
          <a:solidFill>
            <a:schemeClr val="bg2"/>
          </a:solidFill>
          <a:ln/>
        </p:spPr>
      </p:sp>
      <p:sp>
        <p:nvSpPr>
          <p:cNvPr id="8" name="Text 4"/>
          <p:cNvSpPr txBox="1"/>
          <p:nvPr/>
        </p:nvSpPr>
        <p:spPr>
          <a:xfrm>
            <a:off x="868680" y="5349240"/>
            <a:ext cx="10424160" cy="822960"/>
          </a:xfrm>
          <a:prstGeom prst="rect">
            <a:avLst/>
          </a:prstGeom>
          <a:noFill/>
          <a:ln/>
        </p:spPr>
        <p:txBody>
          <a:bodyPr wrap="square" lIns="0" tIns="0" rIns="0" bIns="0" rtlCol="0" anchor="ctr"/>
          <a:lstStyle/>
          <a:p>
            <a:pPr indent="0" marL="0">
              <a:buNone/>
            </a:pPr>
            <a:r>
              <a:rPr lang="en-US" sz="1500" b="1" dirty="0">
                <a:solidFill>
                  <a:schemeClr val="tx1"/>
                </a:solidFill>
              </a:rPr>
              <a:t>Wallet size, landscape: </a:t>
            </a:r>
            <a:pPr indent="0" marL="0">
              <a:buNone/>
            </a:pPr>
            <a:r>
              <a:rPr lang="en-US" sz="1500" dirty="0">
                <a:solidFill>
                  <a:schemeClr val="tx1"/>
                </a:solidFill>
              </a:rPr>
              <a:t>85.6 × 54 mm, the size of a bank card, so it fits a wallet, a lanyard or a card holder. Corruseal's own logo and colours go on the front.</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Option two: without a photo</a:t>
            </a:r>
            <a:endParaRPr lang="en-US" sz="3400" dirty="0"/>
          </a:p>
        </p:txBody>
      </p:sp>
      <p:pic>
        <p:nvPicPr>
          <p:cNvPr id="3" name="Card front without photo" descr="/home/user/kev/marketing/qr-registry/front-plain.png">    </p:cNvPr>
          <p:cNvPicPr>
            <a:picLocks noChangeAspect="1"/>
          </p:cNvPicPr>
          <p:nvPr/>
        </p:nvPicPr>
        <p:blipFill>
          <a:blip r:embed="rId1"/>
          <a:stretch>
            <a:fillRect/>
          </a:stretch>
        </p:blipFill>
        <p:spPr>
          <a:xfrm>
            <a:off x="548640" y="1371600"/>
            <a:ext cx="5120640" cy="3230310"/>
          </a:xfrm>
          <a:prstGeom prst="rect">
            <a:avLst/>
          </a:prstGeom>
        </p:spPr>
      </p:pic>
      <p:sp>
        <p:nvSpPr>
          <p:cNvPr id="4" name="Text 1"/>
          <p:cNvSpPr txBox="1"/>
          <p:nvPr/>
        </p:nvSpPr>
        <p:spPr>
          <a:xfrm>
            <a:off x="548640" y="4784790"/>
            <a:ext cx="5120640" cy="640080"/>
          </a:xfrm>
          <a:prstGeom prst="rect">
            <a:avLst/>
          </a:prstGeom>
          <a:noFill/>
          <a:ln/>
        </p:spPr>
        <p:txBody>
          <a:bodyPr wrap="square" lIns="0" tIns="0" rIns="0" bIns="0" rtlCol="0" anchor="t"/>
          <a:lstStyle/>
          <a:p>
            <a:pPr indent="0" marL="0">
              <a:buNone/>
            </a:pPr>
            <a:r>
              <a:rPr lang="en-US" sz="1400" dirty="0">
                <a:solidFill>
                  <a:schemeClr val="accent5"/>
                </a:solidFill>
              </a:rPr>
              <a:t>Same back, same QR. The initials take the place of the photo and the clock number is larger.</a:t>
            </a:r>
            <a:endParaRPr lang="en-US" sz="1400" dirty="0"/>
          </a:p>
        </p:txBody>
      </p:sp>
      <p:sp>
        <p:nvSpPr>
          <p:cNvPr id="5" name="With photo"/>
          <p:cNvSpPr/>
          <p:nvPr/>
        </p:nvSpPr>
        <p:spPr>
          <a:xfrm>
            <a:off x="6172200" y="1371600"/>
            <a:ext cx="5440680" cy="2148840"/>
          </a:xfrm>
          <a:prstGeom prst="roundRect">
            <a:avLst>
              <a:gd name="adj" fmla="val 7660"/>
            </a:avLst>
          </a:prstGeom>
          <a:solidFill>
            <a:schemeClr val="bg2"/>
          </a:solidFill>
          <a:ln/>
        </p:spPr>
      </p:sp>
      <p:sp>
        <p:nvSpPr>
          <p:cNvPr id="6" name="Text 3"/>
          <p:cNvSpPr txBox="1"/>
          <p:nvPr/>
        </p:nvSpPr>
        <p:spPr>
          <a:xfrm>
            <a:off x="6492240" y="1600200"/>
            <a:ext cx="4846320" cy="411480"/>
          </a:xfrm>
          <a:prstGeom prst="rect">
            <a:avLst/>
          </a:prstGeom>
          <a:noFill/>
          <a:ln/>
        </p:spPr>
        <p:txBody>
          <a:bodyPr wrap="square" lIns="0" tIns="0" rIns="0" bIns="0" rtlCol="0" anchor="ctr"/>
          <a:lstStyle/>
          <a:p>
            <a:pPr indent="0" marL="0">
              <a:buNone/>
            </a:pPr>
            <a:r>
              <a:rPr lang="en-US" sz="2000" b="1" dirty="0">
                <a:solidFill>
                  <a:schemeClr val="tx2"/>
                </a:solidFill>
              </a:rPr>
              <a:t>With photo</a:t>
            </a:r>
            <a:endParaRPr lang="en-US" sz="2000" dirty="0"/>
          </a:p>
        </p:txBody>
      </p:sp>
      <p:sp>
        <p:nvSpPr>
          <p:cNvPr id="7" name="Text 4"/>
          <p:cNvSpPr txBox="1"/>
          <p:nvPr/>
        </p:nvSpPr>
        <p:spPr>
          <a:xfrm>
            <a:off x="6492240" y="2103120"/>
            <a:ext cx="4846320" cy="1280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Driver can see the card belongs to the person</a:t>
            </a:r>
            <a:endParaRPr lang="en-US" sz="1500" dirty="0"/>
          </a:p>
          <a:p>
            <a:pPr marL="342900" indent="-342900">
              <a:spcAft>
                <a:spcPts val="600"/>
              </a:spcAft>
              <a:buSzPct val="100000"/>
              <a:buChar char="•"/>
            </a:pPr>
            <a:r>
              <a:rPr lang="en-US" sz="1500" dirty="0">
                <a:solidFill>
                  <a:schemeClr val="tx1"/>
                </a:solidFill>
              </a:rPr>
              <a:t>Needs a photo of every employee</a:t>
            </a:r>
            <a:endParaRPr lang="en-US" sz="1500" dirty="0"/>
          </a:p>
          <a:p>
            <a:pPr marL="342900" indent="-342900">
              <a:spcAft>
                <a:spcPts val="600"/>
              </a:spcAft>
              <a:buSzPct val="100000"/>
              <a:buChar char="•"/>
            </a:pPr>
            <a:r>
              <a:rPr lang="en-US" sz="1500" dirty="0">
                <a:solidFill>
                  <a:schemeClr val="tx1"/>
                </a:solidFill>
              </a:rPr>
              <a:t>More setup before the cards can be printed</a:t>
            </a:r>
            <a:endParaRPr lang="en-US" sz="1500" dirty="0"/>
          </a:p>
        </p:txBody>
      </p:sp>
      <p:sp>
        <p:nvSpPr>
          <p:cNvPr id="8" name="Without photo"/>
          <p:cNvSpPr/>
          <p:nvPr/>
        </p:nvSpPr>
        <p:spPr>
          <a:xfrm>
            <a:off x="6172200" y="3703320"/>
            <a:ext cx="5440680" cy="2148840"/>
          </a:xfrm>
          <a:prstGeom prst="roundRect">
            <a:avLst>
              <a:gd name="adj" fmla="val 7660"/>
            </a:avLst>
          </a:prstGeom>
          <a:solidFill>
            <a:srgbClr val="FFF4EC"/>
          </a:solidFill>
          <a:ln/>
        </p:spPr>
      </p:sp>
      <p:sp>
        <p:nvSpPr>
          <p:cNvPr id="9" name="Text 6"/>
          <p:cNvSpPr txBox="1"/>
          <p:nvPr/>
        </p:nvSpPr>
        <p:spPr>
          <a:xfrm>
            <a:off x="6492240" y="3931920"/>
            <a:ext cx="4846320" cy="411480"/>
          </a:xfrm>
          <a:prstGeom prst="rect">
            <a:avLst/>
          </a:prstGeom>
          <a:noFill/>
          <a:ln/>
        </p:spPr>
        <p:txBody>
          <a:bodyPr wrap="square" lIns="0" tIns="0" rIns="0" bIns="0" rtlCol="0" anchor="ctr"/>
          <a:lstStyle/>
          <a:p>
            <a:pPr indent="0" marL="0">
              <a:buNone/>
            </a:pPr>
            <a:r>
              <a:rPr lang="en-US" sz="2000" b="1" dirty="0">
                <a:solidFill>
                  <a:schemeClr val="tx2"/>
                </a:solidFill>
              </a:rPr>
              <a:t>Without photo</a:t>
            </a:r>
            <a:endParaRPr lang="en-US" sz="2000" dirty="0"/>
          </a:p>
        </p:txBody>
      </p:sp>
      <p:sp>
        <p:nvSpPr>
          <p:cNvPr id="10" name="Text 7"/>
          <p:cNvSpPr txBox="1"/>
          <p:nvPr/>
        </p:nvSpPr>
        <p:spPr>
          <a:xfrm>
            <a:off x="6492240" y="4434840"/>
            <a:ext cx="4846320" cy="1280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Lower cost and faster to issue</a:t>
            </a:r>
            <a:endParaRPr lang="en-US" sz="1500" dirty="0"/>
          </a:p>
          <a:p>
            <a:pPr marL="342900" indent="-342900">
              <a:spcAft>
                <a:spcPts val="600"/>
              </a:spcAft>
              <a:buSzPct val="100000"/>
              <a:buChar char="•"/>
            </a:pPr>
            <a:r>
              <a:rPr lang="en-US" sz="1500" dirty="0">
                <a:solidFill>
                  <a:schemeClr val="tx1"/>
                </a:solidFill>
              </a:rPr>
              <a:t>New staff get a card the same day</a:t>
            </a:r>
            <a:endParaRPr lang="en-US" sz="1500" dirty="0"/>
          </a:p>
          <a:p>
            <a:pPr marL="342900" indent="-342900">
              <a:spcAft>
                <a:spcPts val="600"/>
              </a:spcAft>
              <a:buSzPct val="100000"/>
              <a:buChar char="•"/>
            </a:pPr>
            <a:r>
              <a:rPr lang="en-US" sz="1500" dirty="0">
                <a:solidFill>
                  <a:schemeClr val="tx1"/>
                </a:solidFill>
              </a:rPr>
              <a:t>A card could be used by someone else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Privacy and lost cards</a:t>
            </a:r>
            <a:endParaRPr lang="en-US" sz="3400" dirty="0"/>
          </a:p>
        </p:txBody>
      </p:sp>
      <p:sp>
        <p:nvSpPr>
          <p:cNvPr id="3" name="The QR holds only a number"/>
          <p:cNvSpPr/>
          <p:nvPr/>
        </p:nvSpPr>
        <p:spPr>
          <a:xfrm>
            <a:off x="548640" y="1371600"/>
            <a:ext cx="5440680" cy="2240280"/>
          </a:xfrm>
          <a:prstGeom prst="roundRect">
            <a:avLst>
              <a:gd name="adj" fmla="val 7347"/>
            </a:avLst>
          </a:prstGeom>
          <a:solidFill>
            <a:schemeClr val="bg2"/>
          </a:solidFill>
          <a:ln/>
        </p:spPr>
      </p:sp>
      <p:sp>
        <p:nvSpPr>
          <p:cNvPr id="4" name="step 1"/>
          <p:cNvSpPr/>
          <p:nvPr/>
        </p:nvSpPr>
        <p:spPr>
          <a:xfrm>
            <a:off x="868680" y="1691640"/>
            <a:ext cx="457200" cy="457200"/>
          </a:xfrm>
          <a:prstGeom prst="ellipse">
            <a:avLst/>
          </a:prstGeom>
          <a:solidFill>
            <a:schemeClr val="accent2"/>
          </a:solidFill>
          <a:ln/>
        </p:spPr>
      </p:sp>
      <p:sp>
        <p:nvSpPr>
          <p:cNvPr id="5" name="Text 3"/>
          <p:cNvSpPr txBox="1"/>
          <p:nvPr/>
        </p:nvSpPr>
        <p:spPr>
          <a:xfrm>
            <a:off x="868680" y="16916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508760" y="1691640"/>
            <a:ext cx="4206240" cy="457200"/>
          </a:xfrm>
          <a:prstGeom prst="rect">
            <a:avLst/>
          </a:prstGeom>
          <a:noFill/>
          <a:ln/>
        </p:spPr>
        <p:txBody>
          <a:bodyPr wrap="square" lIns="0" tIns="0" rIns="0" bIns="0" rtlCol="0" anchor="ctr"/>
          <a:lstStyle/>
          <a:p>
            <a:pPr indent="0" marL="0">
              <a:buNone/>
            </a:pPr>
            <a:r>
              <a:rPr lang="en-US" sz="1900" b="1" dirty="0">
                <a:solidFill>
                  <a:schemeClr val="tx1"/>
                </a:solidFill>
              </a:rPr>
              <a:t>The QR holds only a number</a:t>
            </a:r>
            <a:endParaRPr lang="en-US" sz="1900" dirty="0"/>
          </a:p>
        </p:txBody>
      </p:sp>
      <p:sp>
        <p:nvSpPr>
          <p:cNvPr id="7" name="Text 5"/>
          <p:cNvSpPr txBox="1"/>
          <p:nvPr/>
        </p:nvSpPr>
        <p:spPr>
          <a:xfrm>
            <a:off x="1508760" y="2240280"/>
            <a:ext cx="4206240" cy="1234440"/>
          </a:xfrm>
          <a:prstGeom prst="rect">
            <a:avLst/>
          </a:prstGeom>
          <a:noFill/>
          <a:ln/>
        </p:spPr>
        <p:txBody>
          <a:bodyPr wrap="square" lIns="0" tIns="0" rIns="0" bIns="0" rtlCol="0" anchor="t"/>
          <a:lstStyle/>
          <a:p>
            <a:pPr indent="0" marL="0">
              <a:buNone/>
            </a:pPr>
            <a:r>
              <a:rPr lang="en-US" sz="1400" dirty="0">
                <a:solidFill>
                  <a:schemeClr val="accent5"/>
                </a:solidFill>
              </a:rPr>
              <a:t>A random passenger ID such as 7K4M 2Q9P. No name, address or ID number is inside it; the app looks the person up in the secure system.</a:t>
            </a:r>
            <a:endParaRPr lang="en-US" sz="1400" dirty="0"/>
          </a:p>
        </p:txBody>
      </p:sp>
      <p:sp>
        <p:nvSpPr>
          <p:cNvPr id="8" name="No home address on the card"/>
          <p:cNvSpPr/>
          <p:nvPr/>
        </p:nvSpPr>
        <p:spPr>
          <a:xfrm>
            <a:off x="6172200" y="1371600"/>
            <a:ext cx="5440680" cy="2240280"/>
          </a:xfrm>
          <a:prstGeom prst="roundRect">
            <a:avLst>
              <a:gd name="adj" fmla="val 7347"/>
            </a:avLst>
          </a:prstGeom>
          <a:solidFill>
            <a:schemeClr val="bg2"/>
          </a:solidFill>
          <a:ln/>
        </p:spPr>
      </p:sp>
      <p:sp>
        <p:nvSpPr>
          <p:cNvPr id="9" name="step 2"/>
          <p:cNvSpPr/>
          <p:nvPr/>
        </p:nvSpPr>
        <p:spPr>
          <a:xfrm>
            <a:off x="6492240" y="1691640"/>
            <a:ext cx="457200" cy="457200"/>
          </a:xfrm>
          <a:prstGeom prst="ellipse">
            <a:avLst/>
          </a:prstGeom>
          <a:solidFill>
            <a:schemeClr val="accent2"/>
          </a:solidFill>
          <a:ln/>
        </p:spPr>
      </p:sp>
      <p:sp>
        <p:nvSpPr>
          <p:cNvPr id="10" name="Text 8"/>
          <p:cNvSpPr txBox="1"/>
          <p:nvPr/>
        </p:nvSpPr>
        <p:spPr>
          <a:xfrm>
            <a:off x="6492240" y="16916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7132320" y="1691640"/>
            <a:ext cx="4206240" cy="457200"/>
          </a:xfrm>
          <a:prstGeom prst="rect">
            <a:avLst/>
          </a:prstGeom>
          <a:noFill/>
          <a:ln/>
        </p:spPr>
        <p:txBody>
          <a:bodyPr wrap="square" lIns="0" tIns="0" rIns="0" bIns="0" rtlCol="0" anchor="ctr"/>
          <a:lstStyle/>
          <a:p>
            <a:pPr indent="0" marL="0">
              <a:buNone/>
            </a:pPr>
            <a:r>
              <a:rPr lang="en-US" sz="1900" b="1" dirty="0">
                <a:solidFill>
                  <a:schemeClr val="tx1"/>
                </a:solidFill>
              </a:rPr>
              <a:t>No home address on the card</a:t>
            </a:r>
            <a:endParaRPr lang="en-US" sz="1900" dirty="0"/>
          </a:p>
        </p:txBody>
      </p:sp>
      <p:sp>
        <p:nvSpPr>
          <p:cNvPr id="12" name="Text 10"/>
          <p:cNvSpPr txBox="1"/>
          <p:nvPr/>
        </p:nvSpPr>
        <p:spPr>
          <a:xfrm>
            <a:off x="7132320" y="2240280"/>
            <a:ext cx="4206240" cy="1234440"/>
          </a:xfrm>
          <a:prstGeom prst="rect">
            <a:avLst/>
          </a:prstGeom>
          <a:noFill/>
          <a:ln/>
        </p:spPr>
        <p:txBody>
          <a:bodyPr wrap="square" lIns="0" tIns="0" rIns="0" bIns="0" rtlCol="0" anchor="t"/>
          <a:lstStyle/>
          <a:p>
            <a:pPr indent="0" marL="0">
              <a:buNone/>
            </a:pPr>
            <a:r>
              <a:rPr lang="en-US" sz="1400" dirty="0">
                <a:solidFill>
                  <a:schemeClr val="accent5"/>
                </a:solidFill>
              </a:rPr>
              <a:t>A lost card cannot lead anyone to an employee's home. The address stays in the system, in line with POPIA. The card shows the pickup point instead.</a:t>
            </a:r>
            <a:endParaRPr lang="en-US" sz="1400" dirty="0"/>
          </a:p>
        </p:txBody>
      </p:sp>
      <p:sp>
        <p:nvSpPr>
          <p:cNvPr id="13" name="Lost or damaged card"/>
          <p:cNvSpPr/>
          <p:nvPr/>
        </p:nvSpPr>
        <p:spPr>
          <a:xfrm>
            <a:off x="548640" y="3840480"/>
            <a:ext cx="5440680" cy="2240280"/>
          </a:xfrm>
          <a:prstGeom prst="roundRect">
            <a:avLst>
              <a:gd name="adj" fmla="val 7347"/>
            </a:avLst>
          </a:prstGeom>
          <a:solidFill>
            <a:schemeClr val="bg2"/>
          </a:solidFill>
          <a:ln/>
        </p:spPr>
      </p:sp>
      <p:sp>
        <p:nvSpPr>
          <p:cNvPr id="14" name="step 3"/>
          <p:cNvSpPr/>
          <p:nvPr/>
        </p:nvSpPr>
        <p:spPr>
          <a:xfrm>
            <a:off x="868680" y="4160520"/>
            <a:ext cx="457200" cy="457200"/>
          </a:xfrm>
          <a:prstGeom prst="ellipse">
            <a:avLst/>
          </a:prstGeom>
          <a:solidFill>
            <a:schemeClr val="accent1"/>
          </a:solidFill>
          <a:ln/>
        </p:spPr>
      </p:sp>
      <p:sp>
        <p:nvSpPr>
          <p:cNvPr id="15" name="Text 13"/>
          <p:cNvSpPr txBox="1"/>
          <p:nvPr/>
        </p:nvSpPr>
        <p:spPr>
          <a:xfrm>
            <a:off x="868680" y="41605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1508760" y="4160520"/>
            <a:ext cx="4206240" cy="457200"/>
          </a:xfrm>
          <a:prstGeom prst="rect">
            <a:avLst/>
          </a:prstGeom>
          <a:noFill/>
          <a:ln/>
        </p:spPr>
        <p:txBody>
          <a:bodyPr wrap="square" lIns="0" tIns="0" rIns="0" bIns="0" rtlCol="0" anchor="ctr"/>
          <a:lstStyle/>
          <a:p>
            <a:pPr indent="0" marL="0">
              <a:buNone/>
            </a:pPr>
            <a:r>
              <a:rPr lang="en-US" sz="1900" b="1" dirty="0">
                <a:solidFill>
                  <a:schemeClr val="tx1"/>
                </a:solidFill>
              </a:rPr>
              <a:t>Lost or damaged card</a:t>
            </a:r>
            <a:endParaRPr lang="en-US" sz="1900" dirty="0"/>
          </a:p>
        </p:txBody>
      </p:sp>
      <p:sp>
        <p:nvSpPr>
          <p:cNvPr id="17" name="Text 15"/>
          <p:cNvSpPr txBox="1"/>
          <p:nvPr/>
        </p:nvSpPr>
        <p:spPr>
          <a:xfrm>
            <a:off x="1508760" y="4709160"/>
            <a:ext cx="4206240" cy="1234440"/>
          </a:xfrm>
          <a:prstGeom prst="rect">
            <a:avLst/>
          </a:prstGeom>
          <a:noFill/>
          <a:ln/>
        </p:spPr>
        <p:txBody>
          <a:bodyPr wrap="square" lIns="0" tIns="0" rIns="0" bIns="0" rtlCol="0" anchor="t"/>
          <a:lstStyle/>
          <a:p>
            <a:pPr indent="0" marL="0">
              <a:buNone/>
            </a:pPr>
            <a:r>
              <a:rPr lang="en-US" sz="1400" dirty="0">
                <a:solidFill>
                  <a:schemeClr val="accent5"/>
                </a:solidFill>
              </a:rPr>
              <a:t>The administrator cancels the old card and prints a new one with a new number. The old card stops working at once.</a:t>
            </a:r>
            <a:endParaRPr lang="en-US" sz="1400" dirty="0"/>
          </a:p>
        </p:txBody>
      </p:sp>
      <p:sp>
        <p:nvSpPr>
          <p:cNvPr id="18" name="History stays whole"/>
          <p:cNvSpPr/>
          <p:nvPr/>
        </p:nvSpPr>
        <p:spPr>
          <a:xfrm>
            <a:off x="6172200" y="3840480"/>
            <a:ext cx="5440680" cy="2240280"/>
          </a:xfrm>
          <a:prstGeom prst="roundRect">
            <a:avLst>
              <a:gd name="adj" fmla="val 7347"/>
            </a:avLst>
          </a:prstGeom>
          <a:solidFill>
            <a:schemeClr val="bg2"/>
          </a:solidFill>
          <a:ln/>
        </p:spPr>
      </p:sp>
      <p:sp>
        <p:nvSpPr>
          <p:cNvPr id="19" name="step 4"/>
          <p:cNvSpPr/>
          <p:nvPr/>
        </p:nvSpPr>
        <p:spPr>
          <a:xfrm>
            <a:off x="6492240" y="4160520"/>
            <a:ext cx="457200" cy="457200"/>
          </a:xfrm>
          <a:prstGeom prst="ellipse">
            <a:avLst/>
          </a:prstGeom>
          <a:solidFill>
            <a:schemeClr val="accent1"/>
          </a:solidFill>
          <a:ln/>
        </p:spPr>
      </p:sp>
      <p:sp>
        <p:nvSpPr>
          <p:cNvPr id="20" name="Text 18"/>
          <p:cNvSpPr txBox="1"/>
          <p:nvPr/>
        </p:nvSpPr>
        <p:spPr>
          <a:xfrm>
            <a:off x="6492240" y="41605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9"/>
          <p:cNvSpPr txBox="1"/>
          <p:nvPr/>
        </p:nvSpPr>
        <p:spPr>
          <a:xfrm>
            <a:off x="7132320" y="4160520"/>
            <a:ext cx="4206240" cy="457200"/>
          </a:xfrm>
          <a:prstGeom prst="rect">
            <a:avLst/>
          </a:prstGeom>
          <a:noFill/>
          <a:ln/>
        </p:spPr>
        <p:txBody>
          <a:bodyPr wrap="square" lIns="0" tIns="0" rIns="0" bIns="0" rtlCol="0" anchor="ctr"/>
          <a:lstStyle/>
          <a:p>
            <a:pPr indent="0" marL="0">
              <a:buNone/>
            </a:pPr>
            <a:r>
              <a:rPr lang="en-US" sz="1900" b="1" dirty="0">
                <a:solidFill>
                  <a:schemeClr val="tx1"/>
                </a:solidFill>
              </a:rPr>
              <a:t>History stays whole</a:t>
            </a:r>
            <a:endParaRPr lang="en-US" sz="1900" dirty="0"/>
          </a:p>
        </p:txBody>
      </p:sp>
      <p:sp>
        <p:nvSpPr>
          <p:cNvPr id="22" name="Text 20"/>
          <p:cNvSpPr txBox="1"/>
          <p:nvPr/>
        </p:nvSpPr>
        <p:spPr>
          <a:xfrm>
            <a:off x="7132320" y="4709160"/>
            <a:ext cx="4206240" cy="1234440"/>
          </a:xfrm>
          <a:prstGeom prst="rect">
            <a:avLst/>
          </a:prstGeom>
          <a:noFill/>
          <a:ln/>
        </p:spPr>
        <p:txBody>
          <a:bodyPr wrap="square" lIns="0" tIns="0" rIns="0" bIns="0" rtlCol="0" anchor="t"/>
          <a:lstStyle/>
          <a:p>
            <a:pPr indent="0" marL="0">
              <a:buNone/>
            </a:pPr>
            <a:r>
              <a:rPr lang="en-US" sz="1400" dirty="0">
                <a:solidFill>
                  <a:schemeClr val="accent5"/>
                </a:solidFill>
              </a:rPr>
              <a:t>Every employee keeps one permanent record behind the card, so trips before and after a new card stay together.</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What we suggest for Corruseal</a:t>
            </a:r>
            <a:endParaRPr lang="en-US" sz="3400" dirty="0"/>
          </a:p>
        </p:txBody>
      </p:sp>
      <p:sp>
        <p:nvSpPr>
          <p:cNvPr id="3" name="Explicit Board and Drop off"/>
          <p:cNvSpPr/>
          <p:nvPr/>
        </p:nvSpPr>
        <p:spPr>
          <a:xfrm>
            <a:off x="548640" y="1371600"/>
            <a:ext cx="3566160" cy="2240280"/>
          </a:xfrm>
          <a:prstGeom prst="roundRect">
            <a:avLst>
              <a:gd name="adj" fmla="val 7347"/>
            </a:avLst>
          </a:prstGeom>
          <a:solidFill>
            <a:schemeClr val="bg2"/>
          </a:solidFill>
          <a:ln/>
        </p:spPr>
      </p:sp>
      <p:sp>
        <p:nvSpPr>
          <p:cNvPr id="4" name="Text 2"/>
          <p:cNvSpPr txBox="1"/>
          <p:nvPr/>
        </p:nvSpPr>
        <p:spPr>
          <a:xfrm>
            <a:off x="822960" y="1627632"/>
            <a:ext cx="3017520" cy="640080"/>
          </a:xfrm>
          <a:prstGeom prst="rect">
            <a:avLst/>
          </a:prstGeom>
          <a:noFill/>
          <a:ln/>
        </p:spPr>
        <p:txBody>
          <a:bodyPr wrap="square" lIns="0" tIns="0" rIns="0" bIns="0" rtlCol="0" anchor="t"/>
          <a:lstStyle/>
          <a:p>
            <a:pPr indent="0" marL="0">
              <a:buNone/>
            </a:pPr>
            <a:r>
              <a:rPr lang="en-US" sz="1800" b="1" dirty="0">
                <a:solidFill>
                  <a:schemeClr val="tx2"/>
                </a:solidFill>
              </a:rPr>
              <a:t>Explicit Board and Drop off</a:t>
            </a:r>
            <a:endParaRPr lang="en-US" sz="1800" dirty="0"/>
          </a:p>
        </p:txBody>
      </p:sp>
      <p:sp>
        <p:nvSpPr>
          <p:cNvPr id="5" name="Text 3"/>
          <p:cNvSpPr txBox="1"/>
          <p:nvPr/>
        </p:nvSpPr>
        <p:spPr>
          <a:xfrm>
            <a:off x="822960" y="2286000"/>
            <a:ext cx="3017520" cy="1234440"/>
          </a:xfrm>
          <a:prstGeom prst="rect">
            <a:avLst/>
          </a:prstGeom>
          <a:noFill/>
          <a:ln/>
        </p:spPr>
        <p:txBody>
          <a:bodyPr wrap="square" lIns="0" tIns="0" rIns="0" bIns="0" rtlCol="0" anchor="t"/>
          <a:lstStyle/>
          <a:p>
            <a:pPr indent="0" marL="0">
              <a:buNone/>
            </a:pPr>
            <a:r>
              <a:rPr lang="en-US" sz="1400" dirty="0">
                <a:solidFill>
                  <a:schemeClr val="tx1"/>
                </a:solidFill>
              </a:rPr>
              <a:t>The driver chooses the action before scanning. A double scan shows "already on board" instead of signing the person out.</a:t>
            </a:r>
            <a:endParaRPr lang="en-US" sz="1400" dirty="0"/>
          </a:p>
        </p:txBody>
      </p:sp>
      <p:sp>
        <p:nvSpPr>
          <p:cNvPr id="6" name="Works with no signal"/>
          <p:cNvSpPr/>
          <p:nvPr/>
        </p:nvSpPr>
        <p:spPr>
          <a:xfrm>
            <a:off x="4297680" y="1371600"/>
            <a:ext cx="3566160" cy="2240280"/>
          </a:xfrm>
          <a:prstGeom prst="roundRect">
            <a:avLst>
              <a:gd name="adj" fmla="val 7347"/>
            </a:avLst>
          </a:prstGeom>
          <a:solidFill>
            <a:srgbClr val="E3F4F2"/>
          </a:solidFill>
          <a:ln/>
        </p:spPr>
      </p:sp>
      <p:sp>
        <p:nvSpPr>
          <p:cNvPr id="7" name="Text 5"/>
          <p:cNvSpPr txBox="1"/>
          <p:nvPr/>
        </p:nvSpPr>
        <p:spPr>
          <a:xfrm>
            <a:off x="4572000" y="1627632"/>
            <a:ext cx="3017520" cy="640080"/>
          </a:xfrm>
          <a:prstGeom prst="rect">
            <a:avLst/>
          </a:prstGeom>
          <a:noFill/>
          <a:ln/>
        </p:spPr>
        <p:txBody>
          <a:bodyPr wrap="square" lIns="0" tIns="0" rIns="0" bIns="0" rtlCol="0" anchor="t"/>
          <a:lstStyle/>
          <a:p>
            <a:pPr indent="0" marL="0">
              <a:buNone/>
            </a:pPr>
            <a:r>
              <a:rPr lang="en-US" sz="1800" b="1" dirty="0">
                <a:solidFill>
                  <a:schemeClr val="tx2"/>
                </a:solidFill>
              </a:rPr>
              <a:t>Works with no signal</a:t>
            </a:r>
            <a:endParaRPr lang="en-US" sz="1800" dirty="0"/>
          </a:p>
        </p:txBody>
      </p:sp>
      <p:sp>
        <p:nvSpPr>
          <p:cNvPr id="8" name="Text 6"/>
          <p:cNvSpPr txBox="1"/>
          <p:nvPr/>
        </p:nvSpPr>
        <p:spPr>
          <a:xfrm>
            <a:off x="4572000" y="2286000"/>
            <a:ext cx="3017520" cy="1234440"/>
          </a:xfrm>
          <a:prstGeom prst="rect">
            <a:avLst/>
          </a:prstGeom>
          <a:noFill/>
          <a:ln/>
        </p:spPr>
        <p:txBody>
          <a:bodyPr wrap="square" lIns="0" tIns="0" rIns="0" bIns="0" rtlCol="0" anchor="t"/>
          <a:lstStyle/>
          <a:p>
            <a:pPr indent="0" marL="0">
              <a:buNone/>
            </a:pPr>
            <a:r>
              <a:rPr lang="en-US" sz="1400" dirty="0">
                <a:solidFill>
                  <a:schemeClr val="tx1"/>
                </a:solidFill>
              </a:rPr>
              <a:t>Scans are saved on the device and sent as soon as there is signal, like the tablet does today.</a:t>
            </a:r>
            <a:endParaRPr lang="en-US" sz="1400" dirty="0"/>
          </a:p>
        </p:txBody>
      </p:sp>
      <p:sp>
        <p:nvSpPr>
          <p:cNvPr id="9" name="A check letter in the number"/>
          <p:cNvSpPr/>
          <p:nvPr/>
        </p:nvSpPr>
        <p:spPr>
          <a:xfrm>
            <a:off x="8046720" y="1371600"/>
            <a:ext cx="3566160" cy="2240280"/>
          </a:xfrm>
          <a:prstGeom prst="roundRect">
            <a:avLst>
              <a:gd name="adj" fmla="val 7347"/>
            </a:avLst>
          </a:prstGeom>
          <a:solidFill>
            <a:schemeClr val="bg2"/>
          </a:solidFill>
          <a:ln/>
        </p:spPr>
      </p:sp>
      <p:sp>
        <p:nvSpPr>
          <p:cNvPr id="10" name="Text 8"/>
          <p:cNvSpPr txBox="1"/>
          <p:nvPr/>
        </p:nvSpPr>
        <p:spPr>
          <a:xfrm>
            <a:off x="8321040" y="1627632"/>
            <a:ext cx="3017520" cy="640080"/>
          </a:xfrm>
          <a:prstGeom prst="rect">
            <a:avLst/>
          </a:prstGeom>
          <a:noFill/>
          <a:ln/>
        </p:spPr>
        <p:txBody>
          <a:bodyPr wrap="square" lIns="0" tIns="0" rIns="0" bIns="0" rtlCol="0" anchor="t"/>
          <a:lstStyle/>
          <a:p>
            <a:pPr indent="0" marL="0">
              <a:buNone/>
            </a:pPr>
            <a:r>
              <a:rPr lang="en-US" sz="1800" b="1" dirty="0">
                <a:solidFill>
                  <a:schemeClr val="tx2"/>
                </a:solidFill>
              </a:rPr>
              <a:t>A check letter in the number</a:t>
            </a:r>
            <a:endParaRPr lang="en-US" sz="1800" dirty="0"/>
          </a:p>
        </p:txBody>
      </p:sp>
      <p:sp>
        <p:nvSpPr>
          <p:cNvPr id="11" name="Text 9"/>
          <p:cNvSpPr txBox="1"/>
          <p:nvPr/>
        </p:nvSpPr>
        <p:spPr>
          <a:xfrm>
            <a:off x="8321040" y="2286000"/>
            <a:ext cx="3017520" cy="1234440"/>
          </a:xfrm>
          <a:prstGeom prst="rect">
            <a:avLst/>
          </a:prstGeom>
          <a:noFill/>
          <a:ln/>
        </p:spPr>
        <p:txBody>
          <a:bodyPr wrap="square" lIns="0" tIns="0" rIns="0" bIns="0" rtlCol="0" anchor="t"/>
          <a:lstStyle/>
          <a:p>
            <a:pPr indent="0" marL="0">
              <a:buNone/>
            </a:pPr>
            <a:r>
              <a:rPr lang="en-US" sz="1400" dirty="0">
                <a:solidFill>
                  <a:schemeClr val="tx1"/>
                </a:solidFill>
              </a:rPr>
              <a:t>The last character of the card number checks the rest, so a typing mistake is caught at once.</a:t>
            </a:r>
            <a:endParaRPr lang="en-US" sz="1400" dirty="0"/>
          </a:p>
        </p:txBody>
      </p:sp>
      <p:sp>
        <p:nvSpPr>
          <p:cNvPr id="12" name="Cards printed from the portal"/>
          <p:cNvSpPr/>
          <p:nvPr/>
        </p:nvSpPr>
        <p:spPr>
          <a:xfrm>
            <a:off x="548640" y="3840480"/>
            <a:ext cx="3566160" cy="2240280"/>
          </a:xfrm>
          <a:prstGeom prst="roundRect">
            <a:avLst>
              <a:gd name="adj" fmla="val 7347"/>
            </a:avLst>
          </a:prstGeom>
          <a:solidFill>
            <a:srgbClr val="E3F4F2"/>
          </a:solidFill>
          <a:ln/>
        </p:spPr>
      </p:sp>
      <p:sp>
        <p:nvSpPr>
          <p:cNvPr id="13" name="Text 11"/>
          <p:cNvSpPr txBox="1"/>
          <p:nvPr/>
        </p:nvSpPr>
        <p:spPr>
          <a:xfrm>
            <a:off x="822960" y="4096512"/>
            <a:ext cx="3017520" cy="640080"/>
          </a:xfrm>
          <a:prstGeom prst="rect">
            <a:avLst/>
          </a:prstGeom>
          <a:noFill/>
          <a:ln/>
        </p:spPr>
        <p:txBody>
          <a:bodyPr wrap="square" lIns="0" tIns="0" rIns="0" bIns="0" rtlCol="0" anchor="t"/>
          <a:lstStyle/>
          <a:p>
            <a:pPr indent="0" marL="0">
              <a:buNone/>
            </a:pPr>
            <a:r>
              <a:rPr lang="en-US" sz="1800" b="1" dirty="0">
                <a:solidFill>
                  <a:schemeClr val="tx2"/>
                </a:solidFill>
              </a:rPr>
              <a:t>Cards printed from the portal</a:t>
            </a:r>
            <a:endParaRPr lang="en-US" sz="1800" dirty="0"/>
          </a:p>
        </p:txBody>
      </p:sp>
      <p:sp>
        <p:nvSpPr>
          <p:cNvPr id="14" name="Text 12"/>
          <p:cNvSpPr txBox="1"/>
          <p:nvPr/>
        </p:nvSpPr>
        <p:spPr>
          <a:xfrm>
            <a:off x="822960" y="4754880"/>
            <a:ext cx="3017520" cy="1234440"/>
          </a:xfrm>
          <a:prstGeom prst="rect">
            <a:avLst/>
          </a:prstGeom>
          <a:noFill/>
          <a:ln/>
        </p:spPr>
        <p:txBody>
          <a:bodyPr wrap="square" lIns="0" tIns="0" rIns="0" bIns="0" rtlCol="0" anchor="t"/>
          <a:lstStyle/>
          <a:p>
            <a:pPr indent="0" marL="0">
              <a:buNone/>
            </a:pPr>
            <a:r>
              <a:rPr lang="en-US" sz="1400" dirty="0">
                <a:solidFill>
                  <a:schemeClr val="tx1"/>
                </a:solidFill>
              </a:rPr>
              <a:t>Import the employee list, then print a PDF sheet of cards. Reprint or replace any card in one click.</a:t>
            </a:r>
            <a:endParaRPr lang="en-US" sz="1400" dirty="0"/>
          </a:p>
        </p:txBody>
      </p:sp>
      <p:sp>
        <p:nvSpPr>
          <p:cNvPr id="15" name="Expected list per vehicle"/>
          <p:cNvSpPr/>
          <p:nvPr/>
        </p:nvSpPr>
        <p:spPr>
          <a:xfrm>
            <a:off x="4297680" y="3840480"/>
            <a:ext cx="3566160" cy="2240280"/>
          </a:xfrm>
          <a:prstGeom prst="roundRect">
            <a:avLst>
              <a:gd name="adj" fmla="val 7347"/>
            </a:avLst>
          </a:prstGeom>
          <a:solidFill>
            <a:schemeClr val="bg2"/>
          </a:solidFill>
          <a:ln/>
        </p:spPr>
      </p:sp>
      <p:sp>
        <p:nvSpPr>
          <p:cNvPr id="16" name="Text 14"/>
          <p:cNvSpPr txBox="1"/>
          <p:nvPr/>
        </p:nvSpPr>
        <p:spPr>
          <a:xfrm>
            <a:off x="4572000" y="4096512"/>
            <a:ext cx="3017520" cy="640080"/>
          </a:xfrm>
          <a:prstGeom prst="rect">
            <a:avLst/>
          </a:prstGeom>
          <a:noFill/>
          <a:ln/>
        </p:spPr>
        <p:txBody>
          <a:bodyPr wrap="square" lIns="0" tIns="0" rIns="0" bIns="0" rtlCol="0" anchor="t"/>
          <a:lstStyle/>
          <a:p>
            <a:pPr indent="0" marL="0">
              <a:buNone/>
            </a:pPr>
            <a:r>
              <a:rPr lang="en-US" sz="1800" b="1" dirty="0">
                <a:solidFill>
                  <a:schemeClr val="tx2"/>
                </a:solidFill>
              </a:rPr>
              <a:t>Expected list per vehicle</a:t>
            </a:r>
            <a:endParaRPr lang="en-US" sz="1800" dirty="0"/>
          </a:p>
        </p:txBody>
      </p:sp>
      <p:sp>
        <p:nvSpPr>
          <p:cNvPr id="17" name="Text 15"/>
          <p:cNvSpPr txBox="1"/>
          <p:nvPr/>
        </p:nvSpPr>
        <p:spPr>
          <a:xfrm>
            <a:off x="4572000" y="4754880"/>
            <a:ext cx="3017520" cy="1234440"/>
          </a:xfrm>
          <a:prstGeom prst="rect">
            <a:avLst/>
          </a:prstGeom>
          <a:noFill/>
          <a:ln/>
        </p:spPr>
        <p:txBody>
          <a:bodyPr wrap="square" lIns="0" tIns="0" rIns="0" bIns="0" rtlCol="0" anchor="t"/>
          <a:lstStyle/>
          <a:p>
            <a:pPr indent="0" marL="0">
              <a:buNone/>
            </a:pPr>
            <a:r>
              <a:rPr lang="en-US" sz="1400" dirty="0">
                <a:solidFill>
                  <a:schemeClr val="tx1"/>
                </a:solidFill>
              </a:rPr>
              <a:t>Each route carries its expected passengers, so the driver and Corruseal see who is missing before departure.</a:t>
            </a:r>
            <a:endParaRPr lang="en-US" sz="1400" dirty="0"/>
          </a:p>
        </p:txBody>
      </p:sp>
      <p:sp>
        <p:nvSpPr>
          <p:cNvPr id="18" name="Security scans at the gate"/>
          <p:cNvSpPr/>
          <p:nvPr/>
        </p:nvSpPr>
        <p:spPr>
          <a:xfrm>
            <a:off x="8046720" y="3840480"/>
            <a:ext cx="3566160" cy="2240280"/>
          </a:xfrm>
          <a:prstGeom prst="roundRect">
            <a:avLst>
              <a:gd name="adj" fmla="val 7347"/>
            </a:avLst>
          </a:prstGeom>
          <a:solidFill>
            <a:srgbClr val="E3F4F2"/>
          </a:solidFill>
          <a:ln/>
        </p:spPr>
      </p:sp>
      <p:sp>
        <p:nvSpPr>
          <p:cNvPr id="19" name="Text 17"/>
          <p:cNvSpPr txBox="1"/>
          <p:nvPr/>
        </p:nvSpPr>
        <p:spPr>
          <a:xfrm>
            <a:off x="8321040" y="4096512"/>
            <a:ext cx="3017520" cy="640080"/>
          </a:xfrm>
          <a:prstGeom prst="rect">
            <a:avLst/>
          </a:prstGeom>
          <a:noFill/>
          <a:ln/>
        </p:spPr>
        <p:txBody>
          <a:bodyPr wrap="square" lIns="0" tIns="0" rIns="0" bIns="0" rtlCol="0" anchor="t"/>
          <a:lstStyle/>
          <a:p>
            <a:pPr indent="0" marL="0">
              <a:buNone/>
            </a:pPr>
            <a:r>
              <a:rPr lang="en-US" sz="1800" b="1" dirty="0">
                <a:solidFill>
                  <a:schemeClr val="tx2"/>
                </a:solidFill>
              </a:rPr>
              <a:t>Security scans at the gate</a:t>
            </a:r>
            <a:endParaRPr lang="en-US" sz="1800" dirty="0"/>
          </a:p>
        </p:txBody>
      </p:sp>
      <p:sp>
        <p:nvSpPr>
          <p:cNvPr id="20" name="Text 18"/>
          <p:cNvSpPr txBox="1"/>
          <p:nvPr/>
        </p:nvSpPr>
        <p:spPr>
          <a:xfrm>
            <a:off x="8321040" y="4754880"/>
            <a:ext cx="3017520" cy="1234440"/>
          </a:xfrm>
          <a:prstGeom prst="rect">
            <a:avLst/>
          </a:prstGeom>
          <a:noFill/>
          <a:ln/>
        </p:spPr>
        <p:txBody>
          <a:bodyPr wrap="square" lIns="0" tIns="0" rIns="0" bIns="0" rtlCol="0" anchor="t"/>
          <a:lstStyle/>
          <a:p>
            <a:pPr indent="0" marL="0">
              <a:buNone/>
            </a:pPr>
            <a:r>
              <a:rPr lang="en-US" sz="1400" dirty="0">
                <a:solidFill>
                  <a:schemeClr val="tx1"/>
                </a:solidFill>
              </a:rPr>
              <a:t>The officer can scan the same cards at drop off, feeding the existing security sign out confirmation.</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949440" cy="1463040"/>
          </a:xfrm>
          <a:prstGeom prst="rect">
            <a:avLst/>
          </a:prstGeom>
          <a:noFill/>
          <a:ln/>
        </p:spPr>
        <p:txBody>
          <a:bodyPr wrap="square" lIns="0" tIns="0" rIns="0" bIns="0" rtlCol="0" anchor="b"/>
          <a:lstStyle/>
          <a:p>
            <a:pPr algn="l" indent="0" marL="0">
              <a:buNone/>
            </a:pPr>
            <a:r>
              <a:rPr lang="en-US" sz="4800" b="1" dirty="0">
                <a:solidFill>
                  <a:schemeClr val="bg1"/>
                </a:solidFill>
              </a:rPr>
              <a:t>Next steps</a:t>
            </a:r>
            <a:endParaRPr lang="en-US" sz="4800" dirty="0"/>
          </a:p>
        </p:txBody>
      </p:sp>
      <p:sp>
        <p:nvSpPr>
          <p:cNvPr id="3" name="Text 0"/>
          <p:cNvSpPr/>
          <p:nvPr>
            <p:ph idx="101" type="body" hasCustomPrompt="1"/>
          </p:nvPr>
        </p:nvSpPr>
        <p:spPr>
          <a:xfrm>
            <a:off x="640080" y="3429000"/>
            <a:ext cx="6766560" cy="914400"/>
          </a:xfrm>
          <a:prstGeom prst="rect">
            <a:avLst/>
          </a:prstGeom>
          <a:noFill/>
          <a:ln/>
        </p:spPr>
        <p:txBody>
          <a:bodyPr wrap="square" lIns="0" tIns="0" rIns="0" bIns="0" rtlCol="0" anchor="t"/>
          <a:lstStyle/>
          <a:p>
            <a:pPr algn="l" indent="0" marL="0">
              <a:buNone/>
            </a:pPr>
            <a:r>
              <a:rPr lang="en-US" sz="2000" dirty="0">
                <a:solidFill>
                  <a:srgbClr val="CADCFC"/>
                </a:solidFill>
              </a:rPr>
              <a:t>A short pilot on one vehicle, then all six</a:t>
            </a:r>
            <a:endParaRPr lang="en-US" sz="2000" dirty="0"/>
          </a:p>
        </p:txBody>
      </p:sp>
      <p:sp>
        <p:nvSpPr>
          <p:cNvPr id="4" name="Text 2"/>
          <p:cNvSpPr txBox="1"/>
          <p:nvPr/>
        </p:nvSpPr>
        <p:spPr>
          <a:xfrm>
            <a:off x="640080" y="4343400"/>
            <a:ext cx="7132320" cy="1554480"/>
          </a:xfrm>
          <a:prstGeom prst="rect">
            <a:avLst/>
          </a:prstGeom>
          <a:noFill/>
          <a:ln/>
        </p:spPr>
        <p:txBody>
          <a:bodyPr wrap="square" lIns="0" tIns="0" rIns="0" bIns="0" rtlCol="0" anchor="t"/>
          <a:lstStyle/>
          <a:p>
            <a:pPr indent="0" marL="0">
              <a:spcAft>
                <a:spcPts val="600"/>
              </a:spcAft>
              <a:buNone/>
            </a:pPr>
            <a:r>
              <a:rPr lang="en-US" sz="1500" dirty="0">
                <a:solidFill>
                  <a:schemeClr val="bg1"/>
                </a:solidFill>
              </a:rPr>
              <a:t>1.  Corruseal sends the employee list: name, clock number, pickup point and route</a:t>
            </a:r>
            <a:endParaRPr lang="en-US" sz="1500" dirty="0"/>
          </a:p>
          <a:p>
            <a:pPr indent="0" marL="0">
              <a:spcAft>
                <a:spcPts val="600"/>
              </a:spcAft>
              <a:buNone/>
            </a:pPr>
            <a:r>
              <a:rPr lang="en-US" sz="1500" dirty="0">
                <a:solidFill>
                  <a:schemeClr val="bg1"/>
                </a:solidFill>
              </a:rPr>
              <a:t>2.  Choose the card: with photo or without</a:t>
            </a:r>
            <a:endParaRPr lang="en-US" sz="1500" dirty="0"/>
          </a:p>
          <a:p>
            <a:pPr indent="0" marL="0">
              <a:spcAft>
                <a:spcPts val="600"/>
              </a:spcAft>
              <a:buNone/>
            </a:pPr>
            <a:r>
              <a:rPr lang="en-US" sz="1500" dirty="0">
                <a:solidFill>
                  <a:schemeClr val="bg1"/>
                </a:solidFill>
              </a:rPr>
              <a:t>3.  We build QR mode and card printing into NextQ</a:t>
            </a:r>
            <a:endParaRPr lang="en-US" sz="1500" dirty="0"/>
          </a:p>
          <a:p>
            <a:pPr indent="0" marL="0">
              <a:spcAft>
                <a:spcPts val="600"/>
              </a:spcAft>
              <a:buNone/>
            </a:pPr>
            <a:r>
              <a:rPr lang="en-US" sz="1500" dirty="0">
                <a:solidFill>
                  <a:schemeClr val="bg1"/>
                </a:solidFill>
              </a:rPr>
              <a:t>4.  Pilot on one vehicle for a week, then roll out</a:t>
            </a:r>
            <a:endParaRPr lang="en-US" sz="1500" dirty="0"/>
          </a:p>
        </p:txBody>
      </p:sp>
      <p:sp>
        <p:nvSpPr>
          <p:cNvPr id="5" name="Text 3"/>
          <p:cNvSpPr txBox="1"/>
          <p:nvPr/>
        </p:nvSpPr>
        <p:spPr>
          <a:xfrm>
            <a:off x="640080" y="6172200"/>
            <a:ext cx="8229600" cy="320040"/>
          </a:xfrm>
          <a:prstGeom prst="rect">
            <a:avLst/>
          </a:prstGeom>
          <a:noFill/>
          <a:ln/>
        </p:spPr>
        <p:txBody>
          <a:bodyPr wrap="square" lIns="0" tIns="0" rIns="0" bIns="0" rtlCol="0" anchor="ctr"/>
          <a:lstStyle/>
          <a:p>
            <a:pPr indent="0" marL="0">
              <a:buNone/>
            </a:pPr>
            <a:r>
              <a:rPr lang="en-US" sz="1300" dirty="0">
                <a:solidFill>
                  <a:srgbClr val="CADCFC"/>
                </a:solidFill>
              </a:rPr>
              <a:t>+27 12 004 3348   ·   info@nextq.co.za   ·   www.nextq.co.za   ·   South Africa</a:t>
            </a:r>
            <a:endParaRPr lang="en-US" sz="1300" dirty="0"/>
          </a:p>
        </p:txBody>
      </p:sp>
      <p:pic>
        <p:nvPicPr>
          <p:cNvPr id="6" name="NextQ mascot cheering" descr="/home/user/kev/marketing/qr-registry/cheer.png">    </p:cNvPr>
          <p:cNvPicPr>
            <a:picLocks noChangeAspect="1"/>
          </p:cNvPicPr>
          <p:nvPr/>
        </p:nvPicPr>
        <p:blipFill>
          <a:blip r:embed="rId1"/>
          <a:stretch>
            <a:fillRect/>
          </a:stretch>
        </p:blipFill>
        <p:spPr>
          <a:xfrm>
            <a:off x="8321040" y="1554480"/>
            <a:ext cx="3200400" cy="3353529"/>
          </a:xfrm>
          <a:prstGeom prst="rect">
            <a:avLst/>
          </a:prstGeom>
        </p:spPr>
      </p:pic>
      <p:pic>
        <p:nvPicPr>
          <p:cNvPr id="7" name="NextQ logo" descr="/home/user/kev/marketing/qr-registry/logo-light.png">    </p:cNvPr>
          <p:cNvPicPr>
            <a:picLocks noChangeAspect="1"/>
          </p:cNvPicPr>
          <p:nvPr/>
        </p:nvPicPr>
        <p:blipFill>
          <a:blip r:embed="rId2"/>
          <a:stretch>
            <a:fillRect/>
          </a:stretch>
        </p:blipFill>
        <p:spPr>
          <a:xfrm>
            <a:off x="640080" y="548640"/>
            <a:ext cx="1691640" cy="548640"/>
          </a:xfrm>
          <a:prstGeom prst="rect">
            <a:avLst/>
          </a:prstGeom>
        </p:spPr>
      </p:pic>
    </p:spTree>
  </p:cSld>
  <p:clrMapOvr>
    <a:masterClrMapping/>
  </p:clrMapOvr>
</p:sld>
</file>

<file path=ppt/theme/theme1.xml><?xml version="1.0" encoding="utf-8"?>
<a:theme xmlns:a="http://schemas.openxmlformats.org/drawingml/2006/main" name="NextQ">
  <a:themeElements>
    <a:clrScheme name="NextQ">
      <a:dk1>
        <a:srgbClr val="141A2E"/>
      </a:dk1>
      <a:lt1>
        <a:srgbClr val="FFFFFF"/>
      </a:lt1>
      <a:dk2>
        <a:srgbClr val="14306B"/>
      </a:dk2>
      <a:lt2>
        <a:srgbClr val="F1F4FA"/>
      </a:lt2>
      <a:accent1>
        <a:srgbClr val="2456D6"/>
      </a:accent1>
      <a:accent2>
        <a:srgbClr val="2BB3A3"/>
      </a:accent2>
      <a:accent3>
        <a:srgbClr val="F07B2A"/>
      </a:accent3>
      <a:accent4>
        <a:srgbClr val="17324D"/>
      </a:accent4>
      <a:accent5>
        <a:srgbClr val="5B6B7E"/>
      </a:accent5>
      <a:accent6>
        <a:srgbClr val="1FA36B"/>
      </a:accent6>
      <a:hlink>
        <a:srgbClr val="2456D6"/>
      </a:hlink>
      <a:folHlink>
        <a:srgbClr val="14306B"/>
      </a:folHlink>
    </a:clrScheme>
    <a:fontScheme name="NextQ">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NextQ, a product of Bakwena Industries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QR automated registry</dc:title>
  <dc:subject>PptxGenJS Presentation</dc:subject>
  <dc:creator>NextQ</dc:creator>
  <cp:lastModifiedBy>NextQ</cp:lastModifiedBy>
  <cp:revision>1</cp:revision>
  <dcterms:created xsi:type="dcterms:W3CDTF">2026-10-08T09:24:45Z</dcterms:created>
  <dcterms:modified xsi:type="dcterms:W3CDTF">2026-10-08T09:24:45Z</dcterms:modified>
</cp:coreProperties>
</file>